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this is software that does the part of IT operations nobody automated — the judgement between the alarm and the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is not that IT is slow. It is that more monitoring made it worse — the outage in the third statistic happened because someone had already been told and had stopped listening.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column is the problem, right column is what the agentic approach actually does about it. Do not read them out — point at the pair you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features, one line each. The last two are the ones worth pausing on: firewall traversal is why this deploys without a network conversation, and read-only-by-default is the answer to 'what if it breaks something'.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screens, no commentary needed. If asked to demo live, open the console one and run System Health — it returns in under four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loop is the part worth explaining: the agent is not a pipeline, it goes round between reasoning and tools until it has what it needs, then writes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straight about the arithmetic: the run times are measured, the 35-minute baseline is an assumption and is printed on the slide as one. If they push, offer to re-run the model with their own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'next' column — correlation across machines is the honest gap, and naming it first is stronger than being asked about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212848"/>
            <a:ext cx="1371600" cy="128016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2542032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Aurora Ops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62102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IT Operations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22960" y="422452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that diagnose a machine, act on what they find, and verify the fix.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5029200"/>
            <a:ext cx="2926080" cy="0"/>
          </a:xfrm>
          <a:prstGeom prst="line">
            <a:avLst/>
          </a:prstGeom>
          <a:noFill/>
          <a:ln w="12700">
            <a:solidFill>
              <a:srgbClr val="5555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1755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Gourav Kumar Bathwal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E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548640" cy="77724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is solved. Judgement is not.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Alarms have been automated for thirty years. Working out what the alarm means, and what to do about it, is still a person.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395728"/>
            <a:ext cx="3200400" cy="914400"/>
          </a:xfrm>
          <a:prstGeom prst="rect">
            <a:avLst/>
          </a:prstGeom>
          <a:solidFill>
            <a:srgbClr val="FFE600"/>
          </a:solidFill>
          <a:ln w="12700">
            <a:solidFill>
              <a:srgbClr val="FFE6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2505456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E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92608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2E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since the 1990s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858768" y="2852928"/>
            <a:ext cx="320040" cy="0"/>
          </a:xfrm>
          <a:prstGeom prst="line">
            <a:avLst/>
          </a:prstGeom>
          <a:noFill/>
          <a:ln w="19050">
            <a:solidFill>
              <a:srgbClr val="9494A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70248" y="2395728"/>
            <a:ext cx="3200400" cy="914400"/>
          </a:xfrm>
          <a:prstGeom prst="rect">
            <a:avLst/>
          </a:prstGeom>
          <a:solidFill>
            <a:srgbClr val="3A3A46"/>
          </a:solidFill>
          <a:ln w="12700">
            <a:solidFill>
              <a:srgbClr val="5555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98264" y="2505456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61688" y="292608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manual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562088" y="2852928"/>
            <a:ext cx="320040" cy="0"/>
          </a:xfrm>
          <a:prstGeom prst="line">
            <a:avLst/>
          </a:prstGeom>
          <a:noFill/>
          <a:ln w="19050">
            <a:solidFill>
              <a:srgbClr val="9494A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973568" y="2395728"/>
            <a:ext cx="3200400" cy="914400"/>
          </a:xfrm>
          <a:prstGeom prst="rect">
            <a:avLst/>
          </a:prstGeom>
          <a:solidFill>
            <a:srgbClr val="3A3A46"/>
          </a:solidFill>
          <a:ln w="12700">
            <a:solidFill>
              <a:srgbClr val="5555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01584" y="2505456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&amp; verify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65008" y="292608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manual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66928" y="391363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66928" y="45171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a day reach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average operations team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70248" y="391363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5%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270248" y="45171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them actually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a human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973568" y="391363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7973568" y="45171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organisations had an outage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an alert someone ignored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053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2026 State of Production Reliability survey, 1,039 practitioners.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548640" cy="77724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symptom. It runs the checks.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is given real tools on a real machine. It chooses which to run, reads what comes back, and decides the next step itself.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395728"/>
            <a:ext cx="1883664" cy="1170432"/>
          </a:xfrm>
          <a:prstGeom prst="rect">
            <a:avLst/>
          </a:prstGeom>
          <a:solidFill>
            <a:srgbClr val="3A3A46"/>
          </a:solidFill>
          <a:ln w="12700">
            <a:solidFill>
              <a:srgbClr val="5555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2505456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Plain-English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926080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“disk is nearly full”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05456" y="2980944"/>
            <a:ext cx="256032" cy="0"/>
          </a:xfrm>
          <a:prstGeom prst="line">
            <a:avLst/>
          </a:prstGeom>
          <a:noFill/>
          <a:ln w="19050">
            <a:solidFill>
              <a:srgbClr val="FFE60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07208" y="2395728"/>
            <a:ext cx="1883664" cy="1170432"/>
          </a:xfrm>
          <a:prstGeom prst="rect">
            <a:avLst/>
          </a:prstGeom>
          <a:solidFill>
            <a:srgbClr val="3A3A46"/>
          </a:solidFill>
          <a:ln w="12700">
            <a:solidFill>
              <a:srgbClr val="5555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35224" y="2505456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98648" y="2926080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picks the specialist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45736" y="2980944"/>
            <a:ext cx="256032" cy="0"/>
          </a:xfrm>
          <a:prstGeom prst="line">
            <a:avLst/>
          </a:prstGeom>
          <a:noFill/>
          <a:ln w="19050">
            <a:solidFill>
              <a:srgbClr val="FFE6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47488" y="2395728"/>
            <a:ext cx="1883664" cy="1170432"/>
          </a:xfrm>
          <a:prstGeom prst="rect">
            <a:avLst/>
          </a:prstGeom>
          <a:solidFill>
            <a:srgbClr val="3A3A46"/>
          </a:solidFill>
          <a:ln w="12700">
            <a:solidFill>
              <a:srgbClr val="5555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75504" y="2505456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38928" y="2926080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chooses its own checks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86016" y="2980944"/>
            <a:ext cx="256032" cy="0"/>
          </a:xfrm>
          <a:prstGeom prst="line">
            <a:avLst/>
          </a:prstGeom>
          <a:noFill/>
          <a:ln w="19050">
            <a:solidFill>
              <a:srgbClr val="FFE6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287768" y="2395728"/>
            <a:ext cx="1883664" cy="1170432"/>
          </a:xfrm>
          <a:prstGeom prst="rect">
            <a:avLst/>
          </a:prstGeom>
          <a:solidFill>
            <a:srgbClr val="3A3A46"/>
          </a:solidFill>
          <a:ln w="12700">
            <a:solidFill>
              <a:srgbClr val="5555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15784" y="2505456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on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79208" y="2926080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readings, not guesses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226296" y="2980944"/>
            <a:ext cx="256032" cy="0"/>
          </a:xfrm>
          <a:prstGeom prst="line">
            <a:avLst/>
          </a:prstGeom>
          <a:noFill/>
          <a:ln w="19050">
            <a:solidFill>
              <a:srgbClr val="FFE60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528048" y="2395728"/>
            <a:ext cx="1883664" cy="1170432"/>
          </a:xfrm>
          <a:prstGeom prst="rect">
            <a:avLst/>
          </a:prstGeom>
          <a:solidFill>
            <a:srgbClr val="FFE600"/>
          </a:solidFill>
          <a:ln w="12700">
            <a:solidFill>
              <a:srgbClr val="FFE6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56064" y="2505456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E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E2E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619488" y="2926080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2E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whether it is resolved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66928" y="40599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knows which specialist owns a problem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596128" y="4142232"/>
            <a:ext cx="256032" cy="18288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53328" y="405993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call reads the request and routes it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4773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check depends on what the last one found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596128" y="4855464"/>
            <a:ext cx="256032" cy="18288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53328" y="47731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picks its own next step, every step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“Did it actually work?” is never answered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596128" y="5568696"/>
            <a:ext cx="256032" cy="18288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53328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supervisor reviews the run and states the verdict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E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548640" cy="77724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3401568" cy="1755648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920240"/>
            <a:ext cx="50292" cy="1755648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19456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specialists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77824" y="2633472"/>
            <a:ext cx="2871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Health, logs, backup. Each holds only its own tools.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70248" y="1920240"/>
            <a:ext cx="3401568" cy="1755648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70248" y="1920240"/>
            <a:ext cx="50292" cy="1755648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81144" y="219456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Plain-English routing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81144" y="2633472"/>
            <a:ext cx="2871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a symptom; it picks the right agent.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73568" y="1920240"/>
            <a:ext cx="3401568" cy="1755648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73568" y="1920240"/>
            <a:ext cx="50292" cy="1755648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84464" y="219456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Acts, then verifies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84464" y="2633472"/>
            <a:ext cx="2871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 the fix and confirms it actually worked.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968496"/>
            <a:ext cx="3401568" cy="1755648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3968496"/>
            <a:ext cx="50292" cy="1755648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424281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step visible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4681728"/>
            <a:ext cx="2871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record of what it ran and what came back.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270248" y="3968496"/>
            <a:ext cx="3401568" cy="1755648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70248" y="3968496"/>
            <a:ext cx="50292" cy="1755648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81144" y="424281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behind firewalls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4581144" y="4681728"/>
            <a:ext cx="2871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machine calls out; nothing inbound is opened.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73568" y="3968496"/>
            <a:ext cx="3401568" cy="1755648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73568" y="3968496"/>
            <a:ext cx="50292" cy="1755648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84464" y="424281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by default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284464" y="4681728"/>
            <a:ext cx="2871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one agent can change anything, and only backups.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548640" cy="77724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SNAPSHOTS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running product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5394960" cy="2286000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737360"/>
            <a:ext cx="5394960" cy="54864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996528"/>
            <a:ext cx="5175504" cy="15482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13232" y="3712464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AN AGENT — ASK ON THE LEFT, WATCH ON THE RIGHT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236208" y="1737360"/>
            <a:ext cx="5394960" cy="2286000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236208" y="1737360"/>
            <a:ext cx="5394960" cy="54864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75" y="1901952"/>
            <a:ext cx="3157826" cy="17373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82512" y="3712464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REMEDIATION CHAIN, DRAWN LIVE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66928" y="4206240"/>
            <a:ext cx="5394960" cy="2286000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6928" y="4206240"/>
            <a:ext cx="5394960" cy="54864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1100" y="4370832"/>
            <a:ext cx="3406615" cy="17373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" y="6181344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STAGE OF A RUN, IN PLAIN LANGUAGE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6236208" y="4206240"/>
            <a:ext cx="5394960" cy="2286000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36208" y="4206240"/>
            <a:ext cx="5394960" cy="54864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4553869"/>
            <a:ext cx="5175504" cy="137128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382512" y="6181344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FLEET — LIVE AND STANDBY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548640" cy="77724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 AND DATA 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request becomes a verified report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975104"/>
            <a:ext cx="1883664" cy="914400"/>
          </a:xfrm>
          <a:prstGeom prst="rect">
            <a:avLst/>
          </a:prstGeom>
          <a:solidFill>
            <a:srgbClr val="3A3A46"/>
          </a:solidFill>
          <a:ln w="12700">
            <a:solidFill>
              <a:srgbClr val="5555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08483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" y="250545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console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05456" y="2432304"/>
            <a:ext cx="256032" cy="0"/>
          </a:xfrm>
          <a:prstGeom prst="line">
            <a:avLst/>
          </a:prstGeom>
          <a:noFill/>
          <a:ln w="19050">
            <a:solidFill>
              <a:srgbClr val="FFE60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07208" y="1975104"/>
            <a:ext cx="1883664" cy="914400"/>
          </a:xfrm>
          <a:prstGeom prst="rect">
            <a:avLst/>
          </a:prstGeom>
          <a:solidFill>
            <a:srgbClr val="3A3A46"/>
          </a:solidFill>
          <a:ln w="12700">
            <a:solidFill>
              <a:srgbClr val="5555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35224" y="208483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98648" y="250545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45736" y="2432304"/>
            <a:ext cx="256032" cy="0"/>
          </a:xfrm>
          <a:prstGeom prst="line">
            <a:avLst/>
          </a:prstGeom>
          <a:noFill/>
          <a:ln w="19050">
            <a:solidFill>
              <a:srgbClr val="FFE60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047488" y="1975104"/>
            <a:ext cx="1883664" cy="914400"/>
          </a:xfrm>
          <a:prstGeom prst="rect">
            <a:avLst/>
          </a:prstGeom>
          <a:solidFill>
            <a:srgbClr val="3A3A46"/>
          </a:solidFill>
          <a:ln w="12700">
            <a:solidFill>
              <a:srgbClr val="5555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75504" y="208483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38928" y="250545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986016" y="2432304"/>
            <a:ext cx="256032" cy="0"/>
          </a:xfrm>
          <a:prstGeom prst="line">
            <a:avLst/>
          </a:prstGeom>
          <a:noFill/>
          <a:ln w="19050">
            <a:solidFill>
              <a:srgbClr val="FFE60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287768" y="1975104"/>
            <a:ext cx="1883664" cy="914400"/>
          </a:xfrm>
          <a:prstGeom prst="rect">
            <a:avLst/>
          </a:prstGeom>
          <a:solidFill>
            <a:srgbClr val="FFE600"/>
          </a:solidFill>
          <a:ln w="12700">
            <a:solidFill>
              <a:srgbClr val="FFE6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15784" y="208483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E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79208" y="250545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2E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on Groq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226296" y="2432304"/>
            <a:ext cx="256032" cy="0"/>
          </a:xfrm>
          <a:prstGeom prst="line">
            <a:avLst/>
          </a:prstGeom>
          <a:noFill/>
          <a:ln w="19050">
            <a:solidFill>
              <a:srgbClr val="FFE60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528048" y="1975104"/>
            <a:ext cx="1883664" cy="914400"/>
          </a:xfrm>
          <a:prstGeom prst="rect">
            <a:avLst/>
          </a:prstGeom>
          <a:solidFill>
            <a:srgbClr val="3A3A46"/>
          </a:solidFill>
          <a:ln w="12700">
            <a:solidFill>
              <a:srgbClr val="5555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56064" y="208483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19488" y="250545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on the host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528048" y="3127248"/>
            <a:ext cx="0" cy="310896"/>
          </a:xfrm>
          <a:prstGeom prst="line">
            <a:avLst/>
          </a:prstGeom>
          <a:noFill/>
          <a:ln w="19050">
            <a:solidFill>
              <a:srgbClr val="FFE6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0" y="3438144"/>
            <a:ext cx="2212848" cy="0"/>
          </a:xfrm>
          <a:prstGeom prst="line">
            <a:avLst/>
          </a:prstGeom>
          <a:noFill/>
          <a:ln w="19050">
            <a:solidFill>
              <a:srgbClr val="FFE6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0" y="3127248"/>
            <a:ext cx="0" cy="310896"/>
          </a:xfrm>
          <a:prstGeom prst="line">
            <a:avLst/>
          </a:prstGeom>
          <a:noFill/>
          <a:ln w="19050">
            <a:solidFill>
              <a:srgbClr val="FFE600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6766560" y="34930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repeats until the agent has seen enough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4078224"/>
            <a:ext cx="3401568" cy="1700784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4078224"/>
            <a:ext cx="50292" cy="1700784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7824" y="4315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77824" y="4645152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· React 19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v4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framer-motion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70248" y="4078224"/>
            <a:ext cx="3401568" cy="1700784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70248" y="4078224"/>
            <a:ext cx="50292" cy="1700784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81144" y="4315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81144" y="4645152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· Python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/ SSH / agent daemon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73568" y="4078224"/>
            <a:ext cx="3401568" cy="1700784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73568" y="4078224"/>
            <a:ext cx="50292" cy="1700784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84464" y="4315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284464" y="4645152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· LangChain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llama-3.3-70b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tools, temperature 0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E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548640" cy="77724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 AND 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when judgement is automated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3200400" y="182880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315968" y="1828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0" y="18288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492240" y="18288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66928" y="215798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platforms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200400" y="215798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315968" y="2157984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0" y="215798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92240" y="215798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6700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RMM / endpoint tools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00400" y="2670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15968" y="2670048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0" y="26700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Scripted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92240" y="2670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31821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SRE tools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200400" y="318211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315968" y="3182112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0" y="318211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Rarely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92240" y="31821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621024"/>
            <a:ext cx="7095744" cy="457200"/>
          </a:xfrm>
          <a:prstGeom prst="rect">
            <a:avLst/>
          </a:prstGeom>
          <a:solidFill>
            <a:srgbClr val="444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69417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Aurora Ops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200400" y="369417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315968" y="3694176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0" y="369417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92240" y="369417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45171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THIS MACHINE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66928" y="48280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1.4s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566928" y="54315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question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tool calls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962656" y="48280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3.4s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2962656" y="54315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health check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tool calls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58384" y="48280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11.8s</a:t>
            </a: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5358384" y="54315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diagnose, act, verify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agents, 4 stages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882128" y="1773936"/>
            <a:ext cx="3749040" cy="4224528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82128" y="1773936"/>
            <a:ext cx="50292" cy="4224528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93024" y="20299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A VERIFIED ANSWER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193024" y="24140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93024" y="2688336"/>
            <a:ext cx="3108960" cy="274320"/>
          </a:xfrm>
          <a:prstGeom prst="rect">
            <a:avLst/>
          </a:prstGeom>
          <a:solidFill>
            <a:srgbClr val="5555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84080" y="239572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 min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193024" y="31272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Aurora Ops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93024" y="3401568"/>
            <a:ext cx="173736" cy="274320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84080" y="31089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 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193024" y="3968496"/>
            <a:ext cx="3108960" cy="0"/>
          </a:xfrm>
          <a:prstGeom prst="line">
            <a:avLst/>
          </a:prstGeom>
          <a:noFill/>
          <a:ln w="12700">
            <a:solidFill>
              <a:srgbClr val="55555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193024" y="413308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 hrs</a:t>
            </a:r>
            <a:endParaRPr lang="en-US" sz="3400" dirty="0"/>
          </a:p>
        </p:txBody>
      </p:sp>
      <p:sp>
        <p:nvSpPr>
          <p:cNvPr id="48" name="Text 46"/>
          <p:cNvSpPr/>
          <p:nvPr/>
        </p:nvSpPr>
        <p:spPr>
          <a:xfrm>
            <a:off x="8193024" y="4736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per week at 20 routine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investigations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193024" y="5358384"/>
            <a:ext cx="3145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Assumes 35 minutes of manual triage per investigation.</a:t>
            </a:r>
            <a:endParaRPr lang="en-US" sz="95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11.8s figure is measured; the 35 minutes is an estimate.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E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548640" cy="77724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GOES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today, and what comes next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5330952" cy="3017520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920240"/>
            <a:ext cx="50292" cy="3017520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19456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E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TODAY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96112" y="2770632"/>
            <a:ext cx="146304" cy="27432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2651760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agents on live machine data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6112" y="3429000"/>
            <a:ext cx="146304" cy="27432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3310128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Orchestrated routing and auto-remediation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4087368"/>
            <a:ext cx="146304" cy="27432"/>
          </a:xfrm>
          <a:prstGeom prst="rect">
            <a:avLst/>
          </a:prstGeom>
          <a:solidFill>
            <a:srgbClr val="FFE6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3968496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enrolment over SSH or an agent daemon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90488" y="1920240"/>
            <a:ext cx="5330952" cy="3017520"/>
          </a:xfrm>
          <a:prstGeom prst="rect">
            <a:avLst/>
          </a:prstGeom>
          <a:solidFill>
            <a:srgbClr val="3A3A46"/>
          </a:solidFill>
          <a:ln w="9525">
            <a:solidFill>
              <a:srgbClr val="5555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9672" y="219456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519672" y="2770632"/>
            <a:ext cx="146304" cy="27432"/>
          </a:xfrm>
          <a:prstGeom prst="rect">
            <a:avLst/>
          </a:prstGeom>
          <a:solidFill>
            <a:srgbClr val="5555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2651760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Correlate findings across many machines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19672" y="3429000"/>
            <a:ext cx="146304" cy="27432"/>
          </a:xfrm>
          <a:prstGeom prst="rect">
            <a:avLst/>
          </a:prstGeom>
          <a:solidFill>
            <a:srgbClr val="5555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3310128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logs from Splunk, Loki and CloudWatch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19672" y="4087368"/>
            <a:ext cx="146304" cy="27432"/>
          </a:xfrm>
          <a:prstGeom prst="rect">
            <a:avLst/>
          </a:prstGeom>
          <a:solidFill>
            <a:srgbClr val="5555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3968496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Widen safe action beyond backup and recovery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55412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9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github.com/Mr-Bathwal/aurora-ops-frontend   ·   github.com/Mr-Bathwal/aurora-ops-hub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Ops — Agentic IT Operations</dc:title>
  <dc:subject>PptxGenJS Presentation</dc:subject>
  <dc:creator>Gourav Kumar Bathwal</dc:creator>
  <cp:lastModifiedBy>Gourav Kumar Bathwal</cp:lastModifiedBy>
  <cp:revision>1</cp:revision>
  <dcterms:created xsi:type="dcterms:W3CDTF">2026-08-11T14:28:37Z</dcterms:created>
  <dcterms:modified xsi:type="dcterms:W3CDTF">2026-08-11T14:28:37Z</dcterms:modified>
</cp:coreProperties>
</file>