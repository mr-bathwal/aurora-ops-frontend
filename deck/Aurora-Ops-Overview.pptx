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The point is not 'IT is manual and slow' — every deck says that and a bash script fixes it. The point is that the judgement step was never automated, which is exactly what an agent can do and a script cannot.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cards are the whole 'why agentic'. All three are demoable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what is not live: the two standby agents. The UI already labels them standby, so nothing here overclaims.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details a technical reviewer will care about: the installed agent polls outbound, so no inbound firewall rule; and host binding is per-request via ContextVar — a module global would leak one tenant's host into another's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the 29 hours as a measured result — it is a model, and the inputs are on the slide so anyone can challenge them. The four numbers on the right are the ones actually measured on a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order if there is time: Hosts → Run an agent (show the trace) → Auto-remediate →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solved detection.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automated the judgement.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told us something broke twenty years ago. Scripting runs fixed steps. The reasoning in between — read the evidence, work out what it means, decide what to do — is still a person, at 2am, every single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20840" y="1700784"/>
            <a:ext cx="4892040" cy="2286000"/>
          </a:xfrm>
          <a:prstGeom prst="roundRect">
            <a:avLst>
              <a:gd name="adj" fmla="val 4800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9019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INCIDENT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0" y="221284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02:14 — “disk 91% on prod-db-04”. Engineer wakes, connects, runs df, finds /var full, checks what is growing, finds log rotation failed, checks last night’s backup, fixes, verifies.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0" y="3127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7782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≈30 of them identical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last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315968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4572000"/>
            <a:ext cx="237744" cy="237744"/>
          </a:xfrm>
          <a:prstGeom prst="ellipse">
            <a:avLst/>
          </a:prstGeom>
          <a:solidFill>
            <a:srgbClr val="34F5C5"/>
          </a:solidFill>
          <a:ln w="12700">
            <a:solidFill>
              <a:srgbClr val="050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scale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497433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server multiplies the same manual checking. Headcount is the only lever anyone has.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4315968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008" y="4572000"/>
            <a:ext cx="237744" cy="237744"/>
          </a:xfrm>
          <a:prstGeom prst="ellipse">
            <a:avLst/>
          </a:prstGeom>
          <a:solidFill>
            <a:srgbClr val="34F5C5"/>
          </a:solidFill>
          <a:ln w="12700">
            <a:solidFill>
              <a:srgbClr val="050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knowledge-gated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36008" y="497433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engineer knows which six things to check. The junior does not, so the ticket escalates.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4315968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4572000"/>
            <a:ext cx="237744" cy="237744"/>
          </a:xfrm>
          <a:prstGeom prst="ellipse">
            <a:avLst/>
          </a:prstGeom>
          <a:solidFill>
            <a:srgbClr val="3E9CFF"/>
          </a:solidFill>
          <a:ln w="12700">
            <a:solidFill>
              <a:srgbClr val="0507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96528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stop one step short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30768" y="497433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says CPU is 94%. It cannot say which process, why, or whether it matters.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reasoning layer between machine and operator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Ops gives agents real tools on real machines. They decide which tools to call, hand work to each other, and report in plain language — with every tool call shown.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7249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1638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choice at runtime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529584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tools over 22 probes. “Which process is eating RAM?” calls different tools than “check my disks” — chosen from what the previous call returned.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487168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7249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36008" y="31638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decision, not a branch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3529584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reads the diagnosis and decides at runtime whether remediation is needed at all. Nobody pre-wrote that per host.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87168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27249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30768" y="31638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between agents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3529584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Analyzer → decision → Backup &amp; DR → a supervisor that reads the whole chain back before anything reaches you.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1207008"/>
          </a:xfrm>
          <a:prstGeom prst="roundRect">
            <a:avLst>
              <a:gd name="adj" fmla="val 9091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30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WITH API ACCESS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522976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run against customer machines through two connection paths — a one-line agent install, or agentless SSH — with per-request host binding, so a run can never report on the wrong server.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product, not a prototype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440680" cy="1335024"/>
          </a:xfrm>
          <a:prstGeom prst="roundRect">
            <a:avLst>
              <a:gd name="adj" fmla="val 8219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9222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4F5C5"/>
          </a:solidFill>
          <a:ln w="12700">
            <a:solidFill>
              <a:srgbClr val="34F5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647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onboarding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80160" y="213969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server two ways: one-line agent install, or agentless SSH. The agent polls outbound — no inbound firewall rule.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91072" y="1517904"/>
            <a:ext cx="5440680" cy="1335024"/>
          </a:xfrm>
          <a:prstGeom prst="roundRect">
            <a:avLst>
              <a:gd name="adj" fmla="val 8219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79222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E9CFF"/>
          </a:solidFill>
          <a:ln w="12700">
            <a:solidFill>
              <a:srgbClr val="3E9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22592" y="17647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specialists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22592" y="213969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Health, Log Analyzer, Backup &amp; DR — each with its own tools and its own report.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5440680" cy="1335024"/>
          </a:xfrm>
          <a:prstGeom prst="roundRect">
            <a:avLst>
              <a:gd name="adj" fmla="val 8219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4670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4F5C5"/>
          </a:solidFill>
          <a:ln w="12700">
            <a:solidFill>
              <a:srgbClr val="34F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319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orchestrator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80160" y="369417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symptom instead of picking an agent. One router call sends it to the right specialist.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91072" y="3072384"/>
            <a:ext cx="5440680" cy="1335024"/>
          </a:xfrm>
          <a:prstGeom prst="roundRect">
            <a:avLst>
              <a:gd name="adj" fmla="val 8219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334670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E9CFF"/>
          </a:solidFill>
          <a:ln w="12700">
            <a:solidFill>
              <a:srgbClr val="3E9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3319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chain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22592" y="369417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→ decide → remediate → verify, with the middle stage decided at runtime.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26864"/>
            <a:ext cx="5440680" cy="1335024"/>
          </a:xfrm>
          <a:prstGeom prst="roundRect">
            <a:avLst>
              <a:gd name="adj" fmla="val 8219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90118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4F5C5"/>
          </a:solidFill>
          <a:ln w="12700">
            <a:solidFill>
              <a:srgbClr val="34F5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8737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280160" y="524865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shows which tools were called and what came back. Not a black box.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91072" y="4626864"/>
            <a:ext cx="5440680" cy="1335024"/>
          </a:xfrm>
          <a:prstGeom prst="roundRect">
            <a:avLst>
              <a:gd name="adj" fmla="val 8219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5392" y="490118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E9CFF"/>
          </a:solidFill>
          <a:ln w="12700">
            <a:solidFill>
              <a:srgbClr val="3E9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48737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dashboard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022592" y="524865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recorded — who triggered it, which agent acted, what it did, and the outcome.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Network Sentinel and Disk Auditor are provisioned in the fleet and marked standby; the router already fans out to their lanes.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AND 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becomes a verified report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663440" cy="4663440"/>
          </a:xfrm>
          <a:prstGeom prst="roundRect">
            <a:avLst>
              <a:gd name="adj" fmla="val 2353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1396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213969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TypeScript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65176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2 state graphs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31638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16382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ReAct · 25 tools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6758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6758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· temp 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4187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418795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33 endpoints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47000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70001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· 10 tables · 90-day retention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5212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521208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· opaque sessions · Fernet-encrypted keys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5724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572414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SSH · installed agent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532120" y="1572768"/>
            <a:ext cx="6080760" cy="4663440"/>
          </a:xfrm>
          <a:prstGeom prst="roundRect">
            <a:avLst>
              <a:gd name="adj" fmla="val 2353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792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70448" y="2221992"/>
            <a:ext cx="182880" cy="182880"/>
          </a:xfrm>
          <a:prstGeom prst="ellipse">
            <a:avLst/>
          </a:prstGeom>
          <a:solidFill>
            <a:srgbClr val="3E9CFF"/>
          </a:solidFill>
          <a:ln w="12700">
            <a:solidFill>
              <a:srgbClr val="3E9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61888" y="2404872"/>
            <a:ext cx="0" cy="393192"/>
          </a:xfrm>
          <a:prstGeom prst="line">
            <a:avLst/>
          </a:prstGeom>
          <a:noFill/>
          <a:ln w="19050">
            <a:solidFill>
              <a:srgbClr val="223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2139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 request in the console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870448" y="2798064"/>
            <a:ext cx="182880" cy="182880"/>
          </a:xfrm>
          <a:prstGeom prst="ellipse">
            <a:avLst/>
          </a:prstGeom>
          <a:solidFill>
            <a:srgbClr val="3E9CFF"/>
          </a:solidFill>
          <a:ln w="12700">
            <a:solidFill>
              <a:srgbClr val="3E9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61888" y="2980944"/>
            <a:ext cx="0" cy="393192"/>
          </a:xfrm>
          <a:prstGeom prst="line">
            <a:avLst/>
          </a:prstGeom>
          <a:noFill/>
          <a:ln w="19050">
            <a:solidFill>
              <a:srgbClr val="223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715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 LangGraph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78240" y="2715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 picks the route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70448" y="3374136"/>
            <a:ext cx="182880" cy="182880"/>
          </a:xfrm>
          <a:prstGeom prst="ellipse">
            <a:avLst/>
          </a:prstGeom>
          <a:solidFill>
            <a:srgbClr val="34F5C5"/>
          </a:solidFill>
          <a:ln w="12700">
            <a:solidFill>
              <a:srgbClr val="34F5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61888" y="3557016"/>
            <a:ext cx="0" cy="393192"/>
          </a:xfrm>
          <a:prstGeom prst="line">
            <a:avLst/>
          </a:prstGeom>
          <a:noFill/>
          <a:ln w="19050">
            <a:solidFill>
              <a:srgbClr val="223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32918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which of its tools to call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870448" y="3950208"/>
            <a:ext cx="182880" cy="182880"/>
          </a:xfrm>
          <a:prstGeom prst="ellipse">
            <a:avLst/>
          </a:prstGeom>
          <a:solidFill>
            <a:srgbClr val="34F5C5"/>
          </a:solidFill>
          <a:ln w="12700">
            <a:solidFill>
              <a:srgbClr val="34F5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61888" y="4133088"/>
            <a:ext cx="0" cy="393192"/>
          </a:xfrm>
          <a:prstGeom prst="line">
            <a:avLst/>
          </a:prstGeom>
          <a:noFill/>
          <a:ln w="19050">
            <a:solidFill>
              <a:srgbClr val="223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binding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78240" y="3867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 — never a global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870448" y="4526280"/>
            <a:ext cx="182880" cy="182880"/>
          </a:xfrm>
          <a:prstGeom prst="ellipse">
            <a:avLst/>
          </a:prstGeom>
          <a:solidFill>
            <a:srgbClr val="34F5C5"/>
          </a:solidFill>
          <a:ln w="12700">
            <a:solidFill>
              <a:srgbClr val="34F5C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61888" y="4709160"/>
            <a:ext cx="0" cy="393192"/>
          </a:xfrm>
          <a:prstGeom prst="line">
            <a:avLst/>
          </a:prstGeom>
          <a:noFill/>
          <a:ln w="19050">
            <a:solidFill>
              <a:srgbClr val="223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4443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778240" y="44439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SSH · installed agent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870448" y="5102352"/>
            <a:ext cx="182880" cy="182880"/>
          </a:xfrm>
          <a:prstGeom prst="ellipse">
            <a:avLst/>
          </a:prstGeom>
          <a:solidFill>
            <a:srgbClr val="34F5C5"/>
          </a:solidFill>
          <a:ln w="12700">
            <a:solidFill>
              <a:srgbClr val="34F5C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61888" y="5285232"/>
            <a:ext cx="0" cy="393192"/>
          </a:xfrm>
          <a:prstGeom prst="line">
            <a:avLst/>
          </a:prstGeom>
          <a:noFill/>
          <a:ln w="19050">
            <a:solidFill>
              <a:srgbClr val="22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5020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probes run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78240" y="50200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customer’s machine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870448" y="5678424"/>
            <a:ext cx="182880" cy="182880"/>
          </a:xfrm>
          <a:prstGeom prst="ellipse">
            <a:avLst/>
          </a:prstGeom>
          <a:solidFill>
            <a:srgbClr val="3E9CFF"/>
          </a:solidFill>
          <a:ln w="12700">
            <a:solidFill>
              <a:srgbClr val="3E9C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5596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trace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778240" y="55961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stored, shown with every tool call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AND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judgement is automated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903720" cy="3703320"/>
          </a:xfrm>
          <a:prstGeom prst="roundRect">
            <a:avLst>
              <a:gd name="adj" fmla="val 2963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80360" y="1773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880360" y="1975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Datadog, Zabbix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61688" y="1773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/ RPA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61688" y="1975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cron, Ansible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43016" y="1773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Ops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43016" y="1975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problem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80360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61688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43016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2816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the cause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80360" y="28163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61688" y="28163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steps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43016" y="28163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do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80360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61688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43016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in plain language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880360" y="3730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61688" y="3730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43016" y="3730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 new question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80360" y="4187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61688" y="4187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script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43016" y="4187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1248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work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80360" y="4645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61688" y="4645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43016" y="4645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0" y="1572768"/>
            <a:ext cx="3840480" cy="3703320"/>
          </a:xfrm>
          <a:prstGeom prst="roundRect">
            <a:avLst>
              <a:gd name="adj" fmla="val 2963"/>
            </a:avLst>
          </a:prstGeom>
          <a:solidFill>
            <a:srgbClr val="0E141C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5008" y="17739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TODAY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65008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s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065008" y="2578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3-agent remediation chain, end to end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65008" y="2971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 s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8065008" y="3355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health inspection — 22 probes plus reasoning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065008" y="3749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1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065008" y="4133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shell commands replaced by one snapshot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65008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065008" y="4910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firewall rules to onboard a server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468112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5614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E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HOURS SAVED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41248" y="583387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servers × 2 events/month × 25 min × 70% agent-sufficient  →  ≈29 hours/month on first-pass triage.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95360" y="5852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model — swap in your own fleet numbers.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4F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SNAPSHOTS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product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553212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17904"/>
            <a:ext cx="5532120" cy="2743200"/>
          </a:xfrm>
          <a:prstGeom prst="rect">
            <a:avLst/>
          </a:prstGeom>
          <a:ln w="12700">
            <a:solidFill>
              <a:srgbClr val="2230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29768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tool calls the agent chose itself, with what each returned — and memory correctly flagged at 90.2%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17904"/>
            <a:ext cx="530352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1517904"/>
            <a:ext cx="5303520" cy="2743200"/>
          </a:xfrm>
          <a:prstGeom prst="rect">
            <a:avLst/>
          </a:prstGeom>
          <a:ln w="12700">
            <a:solidFill>
              <a:srgbClr val="22304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09360" y="42976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remediation chain — every wire is an edge the backend walks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64608"/>
            <a:ext cx="3538728" cy="117043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4864608"/>
            <a:ext cx="3538728" cy="1170432"/>
          </a:xfrm>
          <a:prstGeom prst="rect">
            <a:avLst/>
          </a:prstGeom>
          <a:ln w="12700">
            <a:solidFill>
              <a:srgbClr val="22304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6071616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 answering one request, in sequence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4864608"/>
            <a:ext cx="3538728" cy="11704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306824" y="4864608"/>
            <a:ext cx="3538728" cy="1170432"/>
          </a:xfrm>
          <a:prstGeom prst="rect">
            <a:avLst/>
          </a:prstGeom>
          <a:ln w="12700">
            <a:solidFill>
              <a:srgbClr val="22304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306824" y="6071616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recorded, including the one that was skipped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4864608"/>
            <a:ext cx="3538728" cy="117043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074152" y="4864608"/>
            <a:ext cx="3538728" cy="1170432"/>
          </a:xfrm>
          <a:prstGeom prst="rect">
            <a:avLst/>
          </a:prstGeom>
          <a:ln w="12700">
            <a:solidFill>
              <a:srgbClr val="22304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8074152" y="6071616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76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every run recorded, scored and charted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Ops — Agentic IT Operations</dc:title>
  <dc:subject>PptxGenJS Presentation</dc:subject>
  <dc:creator>Aurora Ops</dc:creator>
  <cp:lastModifiedBy>Aurora Ops</cp:lastModifiedBy>
  <cp:revision>1</cp:revision>
  <dcterms:created xsi:type="dcterms:W3CDTF">2026-08-07T18:10:26Z</dcterms:created>
  <dcterms:modified xsi:type="dcterms:W3CDTF">2026-08-07T18:10:26Z</dcterms:modified>
</cp:coreProperties>
</file>