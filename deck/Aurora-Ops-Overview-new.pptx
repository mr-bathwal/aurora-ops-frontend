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plainly. Do not say 'agentic' in the first minute — say what it does at 3am.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the room recognises this, technical or not. Let it land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 will try to collapse these three into 'IT is slow'. Keep them apart — the pitch lives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slide in the deck. Pause after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product against a running backend,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safety line out loud: two of the three cannot change anything at all. That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match' branch is worth a sentence — it is a design decision, not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did something' is a demo. 'An AI did something and then verified it' is a product. Backups are the right first place to allow action — reversible, and the worst case is a little wasted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category whose entire barrier is trust, showing the working is not decoration — it is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CrewAI or AutoGen: a fixed route is auditable; an emergent one is a debugging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projects at this stage assume the machine being inspected is the machine running the code. This one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secrets rule is the best story: it anticipates what the model could be talked into, not just what it is allowed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to know: Resolve.ai reached unicorn valuation in under two years. Cleric is deliberately read-only. Traversal's 90% accuracy claim is self-reported, with no independent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Conceding the right column is exactly what makes the left column believable. Never claim a number you cannot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claims. Both defensible. Both narrow enough to survive questions. Resist widening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E38"/>
        </a:solidFill>
      </p:bgPr>
    </p:bg>
    <p:spTree>
      <p:nvGrpSpPr>
        <p:cNvPr id="1" name=""/>
        <p:cNvGrpSpPr/>
        <p:nvPr/>
      </p:nvGrpSpPr>
      <p:grpSpPr>
        <a:xfrm>
          <a:off x="0" y="0"/>
          <a:ext cx="0" cy="0"/>
          <a:chOff x="0" y="0"/>
          <a:chExt cx="0" cy="0"/>
        </a:xfrm>
      </p:grpSpPr>
      <p:sp>
        <p:nvSpPr>
          <p:cNvPr id="2" name="Shape 0"/>
          <p:cNvSpPr/>
          <p:nvPr/>
        </p:nvSpPr>
        <p:spPr>
          <a:xfrm rot="1680000">
            <a:off x="9418320" y="-1280160"/>
            <a:ext cx="1463040" cy="5852160"/>
          </a:xfrm>
          <a:prstGeom prst="rect">
            <a:avLst/>
          </a:prstGeom>
          <a:solidFill>
            <a:srgbClr val="FFE600"/>
          </a:solidFill>
          <a:ln w="12700">
            <a:solidFill>
              <a:srgbClr val="333333"/>
            </a:solidFill>
            <a:prstDash val="solid"/>
          </a:ln>
        </p:spPr>
      </p:sp>
      <p:sp>
        <p:nvSpPr>
          <p:cNvPr id="3" name="Shape 1"/>
          <p:cNvSpPr/>
          <p:nvPr/>
        </p:nvSpPr>
        <p:spPr>
          <a:xfrm rot="1680000">
            <a:off x="11064240" y="-457200"/>
            <a:ext cx="402336" cy="5852160"/>
          </a:xfrm>
          <a:prstGeom prst="rect">
            <a:avLst/>
          </a:prstGeom>
          <a:solidFill>
            <a:srgbClr val="FFE600"/>
          </a:solidFill>
          <a:ln w="12700">
            <a:solidFill>
              <a:srgbClr val="333333"/>
            </a:solidFill>
            <a:prstDash val="solid"/>
          </a:ln>
        </p:spPr>
      </p:sp>
      <p:sp>
        <p:nvSpPr>
          <p:cNvPr id="4" name="Text 2"/>
          <p:cNvSpPr/>
          <p:nvPr/>
        </p:nvSpPr>
        <p:spPr>
          <a:xfrm>
            <a:off x="685800" y="2103120"/>
            <a:ext cx="7315200" cy="310896"/>
          </a:xfrm>
          <a:prstGeom prst="rect">
            <a:avLst/>
          </a:prstGeom>
          <a:noFill/>
          <a:ln/>
        </p:spPr>
        <p:txBody>
          <a:bodyPr wrap="square" lIns="0" tIns="0" rIns="0" bIns="0" rtlCol="0" anchor="ctr"/>
          <a:lstStyle/>
          <a:p>
            <a:pPr indent="0" marL="0">
              <a:buNone/>
            </a:pPr>
            <a:r>
              <a:rPr lang="en-US" sz="1300" b="1" spc="400" kern="0" dirty="0">
                <a:solidFill>
                  <a:srgbClr val="FFE600"/>
                </a:solidFill>
                <a:latin typeface="Arial" pitchFamily="34" charset="0"/>
                <a:ea typeface="Arial" pitchFamily="34" charset="-122"/>
                <a:cs typeface="Arial" pitchFamily="34" charset="-120"/>
              </a:rPr>
              <a:t>AURORA OPS</a:t>
            </a:r>
            <a:endParaRPr lang="en-US" sz="1300" dirty="0"/>
          </a:p>
        </p:txBody>
      </p:sp>
      <p:sp>
        <p:nvSpPr>
          <p:cNvPr id="5" name="Text 3"/>
          <p:cNvSpPr/>
          <p:nvPr/>
        </p:nvSpPr>
        <p:spPr>
          <a:xfrm>
            <a:off x="658368" y="2523744"/>
            <a:ext cx="8229600" cy="146304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Arial" pitchFamily="34" charset="0"/>
                <a:ea typeface="Arial" pitchFamily="34" charset="-122"/>
                <a:cs typeface="Arial" pitchFamily="34" charset="-120"/>
              </a:rPr>
              <a:t>The IT engineer</a:t>
            </a:r>
            <a:endParaRPr lang="en-US" sz="4400" dirty="0"/>
          </a:p>
          <a:p>
            <a:pPr indent="0" marL="0">
              <a:lnSpc>
                <a:spcPts val="5000"/>
              </a:lnSpc>
              <a:buNone/>
            </a:pPr>
            <a:r>
              <a:rPr lang="en-US" sz="4400" b="1" dirty="0">
                <a:solidFill>
                  <a:srgbClr val="FFFFFF"/>
                </a:solidFill>
                <a:latin typeface="Arial" pitchFamily="34" charset="0"/>
                <a:ea typeface="Arial" pitchFamily="34" charset="-122"/>
                <a:cs typeface="Arial" pitchFamily="34" charset="-120"/>
              </a:rPr>
              <a:t>that never sleeps</a:t>
            </a:r>
            <a:endParaRPr lang="en-US" sz="4400" dirty="0"/>
          </a:p>
        </p:txBody>
      </p:sp>
      <p:sp>
        <p:nvSpPr>
          <p:cNvPr id="6" name="Text 4"/>
          <p:cNvSpPr/>
          <p:nvPr/>
        </p:nvSpPr>
        <p:spPr>
          <a:xfrm>
            <a:off x="685800" y="4114800"/>
            <a:ext cx="7863840" cy="822960"/>
          </a:xfrm>
          <a:prstGeom prst="rect">
            <a:avLst/>
          </a:prstGeom>
          <a:noFill/>
          <a:ln/>
        </p:spPr>
        <p:txBody>
          <a:bodyPr wrap="square" lIns="0" tIns="0" rIns="0" bIns="0" rtlCol="0" anchor="ctr"/>
          <a:lstStyle/>
          <a:p>
            <a:pPr indent="0" marL="0">
              <a:lnSpc>
                <a:spcPts val="2200"/>
              </a:lnSpc>
              <a:buNone/>
            </a:pPr>
            <a:r>
              <a:rPr lang="en-US" sz="1450" dirty="0">
                <a:solidFill>
                  <a:srgbClr val="C4C4CD"/>
                </a:solidFill>
                <a:latin typeface="Arial" pitchFamily="34" charset="0"/>
                <a:ea typeface="Arial" pitchFamily="34" charset="-122"/>
                <a:cs typeface="Arial" pitchFamily="34" charset="-120"/>
              </a:rPr>
              <a:t>Alarms have told us something is broken for thirty years. Working out what it means, fixing it, and checking the fix held is still a person — awake at 3am.</a:t>
            </a:r>
            <a:endParaRPr lang="en-US" sz="1450" dirty="0"/>
          </a:p>
        </p:txBody>
      </p:sp>
      <p:sp>
        <p:nvSpPr>
          <p:cNvPr id="7" name="Shape 5"/>
          <p:cNvSpPr/>
          <p:nvPr/>
        </p:nvSpPr>
        <p:spPr>
          <a:xfrm>
            <a:off x="685800" y="5175504"/>
            <a:ext cx="3108960" cy="32004"/>
          </a:xfrm>
          <a:prstGeom prst="rect">
            <a:avLst/>
          </a:prstGeom>
          <a:solidFill>
            <a:srgbClr val="FFE600"/>
          </a:solidFill>
          <a:ln w="12700">
            <a:solidFill>
              <a:srgbClr val="333333"/>
            </a:solidFill>
            <a:prstDash val="solid"/>
          </a:ln>
        </p:spPr>
      </p:sp>
      <p:sp>
        <p:nvSpPr>
          <p:cNvPr id="8" name="Text 6"/>
          <p:cNvSpPr/>
          <p:nvPr/>
        </p:nvSpPr>
        <p:spPr>
          <a:xfrm>
            <a:off x="685800" y="5358384"/>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Gourav Kumar Bathwal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THE PROBLEM</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It is 3am. Something just broke.</a:t>
            </a:r>
            <a:endParaRPr lang="en-US" sz="3000" dirty="0"/>
          </a:p>
        </p:txBody>
      </p:sp>
      <p:sp>
        <p:nvSpPr>
          <p:cNvPr id="5" name="Shape 3"/>
          <p:cNvSpPr/>
          <p:nvPr/>
        </p:nvSpPr>
        <p:spPr>
          <a:xfrm>
            <a:off x="566928" y="1792224"/>
            <a:ext cx="10881360" cy="914400"/>
          </a:xfrm>
          <a:prstGeom prst="rect">
            <a:avLst/>
          </a:prstGeom>
          <a:solidFill>
            <a:srgbClr val="3A3A46"/>
          </a:solidFill>
          <a:ln w="12700">
            <a:solidFill>
              <a:srgbClr val="50505C"/>
            </a:solidFill>
            <a:prstDash val="solid"/>
          </a:ln>
        </p:spPr>
      </p:sp>
      <p:sp>
        <p:nvSpPr>
          <p:cNvPr id="6" name="Shape 4"/>
          <p:cNvSpPr/>
          <p:nvPr/>
        </p:nvSpPr>
        <p:spPr>
          <a:xfrm>
            <a:off x="566928" y="1792224"/>
            <a:ext cx="54864" cy="914400"/>
          </a:xfrm>
          <a:prstGeom prst="rect">
            <a:avLst/>
          </a:prstGeom>
          <a:solidFill>
            <a:srgbClr val="FFE600"/>
          </a:solidFill>
          <a:ln w="12700">
            <a:solidFill>
              <a:srgbClr val="333333"/>
            </a:solidFill>
            <a:prstDash val="solid"/>
          </a:ln>
        </p:spPr>
      </p:sp>
      <p:sp>
        <p:nvSpPr>
          <p:cNvPr id="7" name="Text 5"/>
          <p:cNvSpPr/>
          <p:nvPr/>
        </p:nvSpPr>
        <p:spPr>
          <a:xfrm>
            <a:off x="868680" y="2084832"/>
            <a:ext cx="1005840" cy="329184"/>
          </a:xfrm>
          <a:prstGeom prst="rect">
            <a:avLst/>
          </a:prstGeom>
          <a:noFill/>
          <a:ln/>
        </p:spPr>
        <p:txBody>
          <a:bodyPr wrap="square" lIns="0" tIns="0" rIns="0" bIns="0" rtlCol="0" anchor="ctr"/>
          <a:lstStyle/>
          <a:p>
            <a:pPr indent="0" marL="0">
              <a:buNone/>
            </a:pPr>
            <a:r>
              <a:rPr lang="en-US" sz="1600" b="1" dirty="0">
                <a:solidFill>
                  <a:srgbClr val="FFE600"/>
                </a:solidFill>
                <a:latin typeface="Arial" pitchFamily="34" charset="0"/>
                <a:ea typeface="Arial" pitchFamily="34" charset="-122"/>
                <a:cs typeface="Arial" pitchFamily="34" charset="-120"/>
              </a:rPr>
              <a:t>03:00</a:t>
            </a:r>
            <a:endParaRPr lang="en-US" sz="1600" dirty="0"/>
          </a:p>
        </p:txBody>
      </p:sp>
      <p:sp>
        <p:nvSpPr>
          <p:cNvPr id="8" name="Text 6"/>
          <p:cNvSpPr/>
          <p:nvPr/>
        </p:nvSpPr>
        <p:spPr>
          <a:xfrm>
            <a:off x="2011680" y="1975104"/>
            <a:ext cx="384048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An alarm goes off</a:t>
            </a:r>
            <a:endParaRPr lang="en-US" sz="1450" dirty="0"/>
          </a:p>
        </p:txBody>
      </p:sp>
      <p:sp>
        <p:nvSpPr>
          <p:cNvPr id="9" name="Text 7"/>
          <p:cNvSpPr/>
          <p:nvPr/>
        </p:nvSpPr>
        <p:spPr>
          <a:xfrm>
            <a:off x="2011680" y="2286000"/>
            <a:ext cx="9052560" cy="31089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“Disk is 94% full on the main server.”</a:t>
            </a:r>
            <a:endParaRPr lang="en-US" sz="1150" dirty="0"/>
          </a:p>
        </p:txBody>
      </p:sp>
      <p:sp>
        <p:nvSpPr>
          <p:cNvPr id="10" name="Shape 8"/>
          <p:cNvSpPr/>
          <p:nvPr/>
        </p:nvSpPr>
        <p:spPr>
          <a:xfrm>
            <a:off x="566928" y="2852928"/>
            <a:ext cx="10881360" cy="914400"/>
          </a:xfrm>
          <a:prstGeom prst="rect">
            <a:avLst/>
          </a:prstGeom>
          <a:solidFill>
            <a:srgbClr val="3A3A46"/>
          </a:solidFill>
          <a:ln w="12700">
            <a:solidFill>
              <a:srgbClr val="50505C"/>
            </a:solidFill>
            <a:prstDash val="solid"/>
          </a:ln>
        </p:spPr>
      </p:sp>
      <p:sp>
        <p:nvSpPr>
          <p:cNvPr id="11" name="Text 9"/>
          <p:cNvSpPr/>
          <p:nvPr/>
        </p:nvSpPr>
        <p:spPr>
          <a:xfrm>
            <a:off x="868680" y="3145536"/>
            <a:ext cx="1005840" cy="329184"/>
          </a:xfrm>
          <a:prstGeom prst="rect">
            <a:avLst/>
          </a:prstGeom>
          <a:noFill/>
          <a:ln/>
        </p:spPr>
        <p:txBody>
          <a:bodyPr wrap="square" lIns="0" tIns="0" rIns="0" bIns="0" rtlCol="0" anchor="ctr"/>
          <a:lstStyle/>
          <a:p>
            <a:pPr indent="0" marL="0">
              <a:buNone/>
            </a:pPr>
            <a:r>
              <a:rPr lang="en-US" sz="1600" b="1" dirty="0">
                <a:solidFill>
                  <a:srgbClr val="8B8B98"/>
                </a:solidFill>
                <a:latin typeface="Arial" pitchFamily="34" charset="0"/>
                <a:ea typeface="Arial" pitchFamily="34" charset="-122"/>
                <a:cs typeface="Arial" pitchFamily="34" charset="-120"/>
              </a:rPr>
              <a:t>03:04</a:t>
            </a:r>
            <a:endParaRPr lang="en-US" sz="1600" dirty="0"/>
          </a:p>
        </p:txBody>
      </p:sp>
      <p:sp>
        <p:nvSpPr>
          <p:cNvPr id="12" name="Text 10"/>
          <p:cNvSpPr/>
          <p:nvPr/>
        </p:nvSpPr>
        <p:spPr>
          <a:xfrm>
            <a:off x="2011680" y="3035808"/>
            <a:ext cx="384048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Someone wakes up and logs in</a:t>
            </a:r>
            <a:endParaRPr lang="en-US" sz="1450" dirty="0"/>
          </a:p>
        </p:txBody>
      </p:sp>
      <p:sp>
        <p:nvSpPr>
          <p:cNvPr id="13" name="Text 11"/>
          <p:cNvSpPr/>
          <p:nvPr/>
        </p:nvSpPr>
        <p:spPr>
          <a:xfrm>
            <a:off x="2011680" y="3346704"/>
            <a:ext cx="9052560" cy="31089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They start typing commands, one at a time, looking for what changed.</a:t>
            </a:r>
            <a:endParaRPr lang="en-US" sz="1150" dirty="0"/>
          </a:p>
        </p:txBody>
      </p:sp>
      <p:sp>
        <p:nvSpPr>
          <p:cNvPr id="14" name="Shape 12"/>
          <p:cNvSpPr/>
          <p:nvPr/>
        </p:nvSpPr>
        <p:spPr>
          <a:xfrm>
            <a:off x="566928" y="3913632"/>
            <a:ext cx="10881360" cy="914400"/>
          </a:xfrm>
          <a:prstGeom prst="rect">
            <a:avLst/>
          </a:prstGeom>
          <a:solidFill>
            <a:srgbClr val="3A3A46"/>
          </a:solidFill>
          <a:ln w="12700">
            <a:solidFill>
              <a:srgbClr val="50505C"/>
            </a:solidFill>
            <a:prstDash val="solid"/>
          </a:ln>
        </p:spPr>
      </p:sp>
      <p:sp>
        <p:nvSpPr>
          <p:cNvPr id="15" name="Text 13"/>
          <p:cNvSpPr/>
          <p:nvPr/>
        </p:nvSpPr>
        <p:spPr>
          <a:xfrm>
            <a:off x="868680" y="4206240"/>
            <a:ext cx="1005840" cy="329184"/>
          </a:xfrm>
          <a:prstGeom prst="rect">
            <a:avLst/>
          </a:prstGeom>
          <a:noFill/>
          <a:ln/>
        </p:spPr>
        <p:txBody>
          <a:bodyPr wrap="square" lIns="0" tIns="0" rIns="0" bIns="0" rtlCol="0" anchor="ctr"/>
          <a:lstStyle/>
          <a:p>
            <a:pPr indent="0" marL="0">
              <a:buNone/>
            </a:pPr>
            <a:r>
              <a:rPr lang="en-US" sz="1600" b="1" dirty="0">
                <a:solidFill>
                  <a:srgbClr val="8B8B98"/>
                </a:solidFill>
                <a:latin typeface="Arial" pitchFamily="34" charset="0"/>
                <a:ea typeface="Arial" pitchFamily="34" charset="-122"/>
                <a:cs typeface="Arial" pitchFamily="34" charset="-120"/>
              </a:rPr>
              <a:t>03:18</a:t>
            </a:r>
            <a:endParaRPr lang="en-US" sz="1600" dirty="0"/>
          </a:p>
        </p:txBody>
      </p:sp>
      <p:sp>
        <p:nvSpPr>
          <p:cNvPr id="16" name="Text 14"/>
          <p:cNvSpPr/>
          <p:nvPr/>
        </p:nvSpPr>
        <p:spPr>
          <a:xfrm>
            <a:off x="2011680" y="4096512"/>
            <a:ext cx="384048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They work out what happened</a:t>
            </a:r>
            <a:endParaRPr lang="en-US" sz="1450" dirty="0"/>
          </a:p>
        </p:txBody>
      </p:sp>
      <p:sp>
        <p:nvSpPr>
          <p:cNvPr id="17" name="Text 15"/>
          <p:cNvSpPr/>
          <p:nvPr/>
        </p:nvSpPr>
        <p:spPr>
          <a:xfrm>
            <a:off x="2011680" y="4407408"/>
            <a:ext cx="9052560" cy="31089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A log file grew without limit because a clean-up job quietly stopped running.</a:t>
            </a:r>
            <a:endParaRPr lang="en-US" sz="1150" dirty="0"/>
          </a:p>
        </p:txBody>
      </p:sp>
      <p:sp>
        <p:nvSpPr>
          <p:cNvPr id="18" name="Shape 16"/>
          <p:cNvSpPr/>
          <p:nvPr/>
        </p:nvSpPr>
        <p:spPr>
          <a:xfrm>
            <a:off x="566928" y="4974336"/>
            <a:ext cx="10881360" cy="914400"/>
          </a:xfrm>
          <a:prstGeom prst="rect">
            <a:avLst/>
          </a:prstGeom>
          <a:solidFill>
            <a:srgbClr val="3A3A46"/>
          </a:solidFill>
          <a:ln w="12700">
            <a:solidFill>
              <a:srgbClr val="50505C"/>
            </a:solidFill>
            <a:prstDash val="solid"/>
          </a:ln>
        </p:spPr>
      </p:sp>
      <p:sp>
        <p:nvSpPr>
          <p:cNvPr id="19" name="Text 17"/>
          <p:cNvSpPr/>
          <p:nvPr/>
        </p:nvSpPr>
        <p:spPr>
          <a:xfrm>
            <a:off x="868680" y="5266944"/>
            <a:ext cx="1005840" cy="329184"/>
          </a:xfrm>
          <a:prstGeom prst="rect">
            <a:avLst/>
          </a:prstGeom>
          <a:noFill/>
          <a:ln/>
        </p:spPr>
        <p:txBody>
          <a:bodyPr wrap="square" lIns="0" tIns="0" rIns="0" bIns="0" rtlCol="0" anchor="ctr"/>
          <a:lstStyle/>
          <a:p>
            <a:pPr indent="0" marL="0">
              <a:buNone/>
            </a:pPr>
            <a:r>
              <a:rPr lang="en-US" sz="1600" b="1" dirty="0">
                <a:solidFill>
                  <a:srgbClr val="8B8B98"/>
                </a:solidFill>
                <a:latin typeface="Arial" pitchFamily="34" charset="0"/>
                <a:ea typeface="Arial" pitchFamily="34" charset="-122"/>
                <a:cs typeface="Arial" pitchFamily="34" charset="-120"/>
              </a:rPr>
              <a:t>03:26</a:t>
            </a:r>
            <a:endParaRPr lang="en-US" sz="1600" dirty="0"/>
          </a:p>
        </p:txBody>
      </p:sp>
      <p:sp>
        <p:nvSpPr>
          <p:cNvPr id="20" name="Text 18"/>
          <p:cNvSpPr/>
          <p:nvPr/>
        </p:nvSpPr>
        <p:spPr>
          <a:xfrm>
            <a:off x="2011680" y="5157216"/>
            <a:ext cx="384048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They fix it and check it held</a:t>
            </a:r>
            <a:endParaRPr lang="en-US" sz="1450" dirty="0"/>
          </a:p>
        </p:txBody>
      </p:sp>
      <p:sp>
        <p:nvSpPr>
          <p:cNvPr id="21" name="Text 19"/>
          <p:cNvSpPr/>
          <p:nvPr/>
        </p:nvSpPr>
        <p:spPr>
          <a:xfrm>
            <a:off x="2011680" y="5468112"/>
            <a:ext cx="9052560" cy="31089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Take a backup first, clear the files, restart the job, run the check again.</a:t>
            </a:r>
            <a:endParaRPr lang="en-US" sz="1150" dirty="0"/>
          </a:p>
        </p:txBody>
      </p:sp>
      <p:sp>
        <p:nvSpPr>
          <p:cNvPr id="22" name="Text 20"/>
          <p:cNvSpPr/>
          <p:nvPr/>
        </p:nvSpPr>
        <p:spPr>
          <a:xfrm>
            <a:off x="566928" y="6108192"/>
            <a:ext cx="10881360" cy="365760"/>
          </a:xfrm>
          <a:prstGeom prst="rect">
            <a:avLst/>
          </a:prstGeom>
          <a:noFill/>
          <a:ln/>
        </p:spPr>
        <p:txBody>
          <a:bodyPr wrap="square" lIns="0" tIns="0" rIns="0" bIns="0" rtlCol="0" anchor="ctr"/>
          <a:lstStyle/>
          <a:p>
            <a:pPr indent="0" marL="0">
              <a:buNone/>
            </a:pPr>
            <a:r>
              <a:rPr lang="en-US" sz="1500" b="1" dirty="0">
                <a:solidFill>
                  <a:srgbClr val="FFE600"/>
                </a:solidFill>
                <a:latin typeface="Arial" pitchFamily="34" charset="0"/>
                <a:ea typeface="Arial" pitchFamily="34" charset="-122"/>
                <a:cs typeface="Arial" pitchFamily="34" charset="-120"/>
              </a:rPr>
              <a:t>Waking them up was automated in the 1990s. Everything after that is still a person typing.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THE PROBLEM</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Three different problems get called one problem</a:t>
            </a:r>
            <a:endParaRPr lang="en-US" sz="3000" dirty="0"/>
          </a:p>
        </p:txBody>
      </p:sp>
      <p:sp>
        <p:nvSpPr>
          <p:cNvPr id="5" name="Shape 3"/>
          <p:cNvSpPr/>
          <p:nvPr/>
        </p:nvSpPr>
        <p:spPr>
          <a:xfrm>
            <a:off x="566928" y="1792224"/>
            <a:ext cx="3401568" cy="2377440"/>
          </a:xfrm>
          <a:prstGeom prst="rect">
            <a:avLst/>
          </a:prstGeom>
          <a:solidFill>
            <a:srgbClr val="3A3A46"/>
          </a:solidFill>
          <a:ln w="12700">
            <a:solidFill>
              <a:srgbClr val="50505C"/>
            </a:solidFill>
            <a:prstDash val="solid"/>
          </a:ln>
        </p:spPr>
      </p:sp>
      <p:sp>
        <p:nvSpPr>
          <p:cNvPr id="6" name="Text 4"/>
          <p:cNvSpPr/>
          <p:nvPr/>
        </p:nvSpPr>
        <p:spPr>
          <a:xfrm>
            <a:off x="859536" y="2066544"/>
            <a:ext cx="2743200" cy="29260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Noticing</a:t>
            </a:r>
            <a:endParaRPr lang="en-US" sz="1900" dirty="0"/>
          </a:p>
        </p:txBody>
      </p:sp>
      <p:sp>
        <p:nvSpPr>
          <p:cNvPr id="7" name="Text 5"/>
          <p:cNvSpPr/>
          <p:nvPr/>
        </p:nvSpPr>
        <p:spPr>
          <a:xfrm>
            <a:off x="859536" y="2450592"/>
            <a:ext cx="2834640" cy="310896"/>
          </a:xfrm>
          <a:prstGeom prst="rect">
            <a:avLst/>
          </a:prstGeom>
          <a:noFill/>
          <a:ln/>
        </p:spPr>
        <p:txBody>
          <a:bodyPr wrap="square" lIns="0" tIns="0" rIns="0" bIns="0" rtlCol="0" anchor="ctr"/>
          <a:lstStyle/>
          <a:p>
            <a:pPr indent="0" marL="0">
              <a:buNone/>
            </a:pPr>
            <a:r>
              <a:rPr lang="en-US" sz="1300" i="1" dirty="0">
                <a:solidFill>
                  <a:srgbClr val="FFFFFF"/>
                </a:solidFill>
                <a:latin typeface="Arial" pitchFamily="34" charset="0"/>
                <a:ea typeface="Arial" pitchFamily="34" charset="-122"/>
                <a:cs typeface="Arial" pitchFamily="34" charset="-120"/>
              </a:rPr>
              <a:t>“Something is wrong.”</a:t>
            </a:r>
            <a:endParaRPr lang="en-US" sz="1300" dirty="0"/>
          </a:p>
        </p:txBody>
      </p:sp>
      <p:sp>
        <p:nvSpPr>
          <p:cNvPr id="8" name="Text 6"/>
          <p:cNvSpPr/>
          <p:nvPr/>
        </p:nvSpPr>
        <p:spPr>
          <a:xfrm>
            <a:off x="859536" y="2834640"/>
            <a:ext cx="2834640" cy="100584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Solved. Thousands of tools do this. It is a commodity.</a:t>
            </a:r>
            <a:endParaRPr lang="en-US" sz="1150" dirty="0"/>
          </a:p>
        </p:txBody>
      </p:sp>
      <p:sp>
        <p:nvSpPr>
          <p:cNvPr id="9" name="Text 7"/>
          <p:cNvSpPr/>
          <p:nvPr/>
        </p:nvSpPr>
        <p:spPr>
          <a:xfrm>
            <a:off x="859536" y="3803904"/>
            <a:ext cx="2743200" cy="237744"/>
          </a:xfrm>
          <a:prstGeom prst="rect">
            <a:avLst/>
          </a:prstGeom>
          <a:noFill/>
          <a:ln/>
        </p:spPr>
        <p:txBody>
          <a:bodyPr wrap="square" lIns="0" tIns="0" rIns="0" bIns="0" rtlCol="0" anchor="ctr"/>
          <a:lstStyle/>
          <a:p>
            <a:pPr indent="0" marL="0">
              <a:buNone/>
            </a:pPr>
            <a:r>
              <a:rPr lang="en-US" sz="950" b="1" spc="160" kern="0" dirty="0">
                <a:solidFill>
                  <a:srgbClr val="8B8B98"/>
                </a:solidFill>
                <a:latin typeface="Arial" pitchFamily="34" charset="0"/>
                <a:ea typeface="Arial" pitchFamily="34" charset="-122"/>
                <a:cs typeface="Arial" pitchFamily="34" charset="-120"/>
              </a:rPr>
              <a:t>NOT OUR FIGHT</a:t>
            </a:r>
            <a:endParaRPr lang="en-US" sz="950" dirty="0"/>
          </a:p>
        </p:txBody>
      </p:sp>
      <p:sp>
        <p:nvSpPr>
          <p:cNvPr id="10" name="Shape 8"/>
          <p:cNvSpPr/>
          <p:nvPr/>
        </p:nvSpPr>
        <p:spPr>
          <a:xfrm>
            <a:off x="4242816" y="1792224"/>
            <a:ext cx="3401568" cy="2377440"/>
          </a:xfrm>
          <a:prstGeom prst="rect">
            <a:avLst/>
          </a:prstGeom>
          <a:solidFill>
            <a:srgbClr val="3A3A46"/>
          </a:solidFill>
          <a:ln w="12700">
            <a:solidFill>
              <a:srgbClr val="50505C"/>
            </a:solidFill>
            <a:prstDash val="solid"/>
          </a:ln>
        </p:spPr>
      </p:sp>
      <p:sp>
        <p:nvSpPr>
          <p:cNvPr id="11" name="Shape 9"/>
          <p:cNvSpPr/>
          <p:nvPr/>
        </p:nvSpPr>
        <p:spPr>
          <a:xfrm>
            <a:off x="4242816" y="1792224"/>
            <a:ext cx="54864" cy="2377440"/>
          </a:xfrm>
          <a:prstGeom prst="rect">
            <a:avLst/>
          </a:prstGeom>
          <a:solidFill>
            <a:srgbClr val="FFE600"/>
          </a:solidFill>
          <a:ln w="12700">
            <a:solidFill>
              <a:srgbClr val="333333"/>
            </a:solidFill>
            <a:prstDash val="solid"/>
          </a:ln>
        </p:spPr>
      </p:sp>
      <p:sp>
        <p:nvSpPr>
          <p:cNvPr id="12" name="Text 10"/>
          <p:cNvSpPr/>
          <p:nvPr/>
        </p:nvSpPr>
        <p:spPr>
          <a:xfrm>
            <a:off x="4535424" y="2066544"/>
            <a:ext cx="2743200" cy="29260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Understanding</a:t>
            </a:r>
            <a:endParaRPr lang="en-US" sz="1900" dirty="0"/>
          </a:p>
        </p:txBody>
      </p:sp>
      <p:sp>
        <p:nvSpPr>
          <p:cNvPr id="13" name="Text 11"/>
          <p:cNvSpPr/>
          <p:nvPr/>
        </p:nvSpPr>
        <p:spPr>
          <a:xfrm>
            <a:off x="4535424" y="2450592"/>
            <a:ext cx="2834640" cy="310896"/>
          </a:xfrm>
          <a:prstGeom prst="rect">
            <a:avLst/>
          </a:prstGeom>
          <a:noFill/>
          <a:ln/>
        </p:spPr>
        <p:txBody>
          <a:bodyPr wrap="square" lIns="0" tIns="0" rIns="0" bIns="0" rtlCol="0" anchor="ctr"/>
          <a:lstStyle/>
          <a:p>
            <a:pPr indent="0" marL="0">
              <a:buNone/>
            </a:pPr>
            <a:r>
              <a:rPr lang="en-US" sz="1300" i="1" dirty="0">
                <a:solidFill>
                  <a:srgbClr val="FFFFFF"/>
                </a:solidFill>
                <a:latin typeface="Arial" pitchFamily="34" charset="0"/>
                <a:ea typeface="Arial" pitchFamily="34" charset="-122"/>
                <a:cs typeface="Arial" pitchFamily="34" charset="-120"/>
              </a:rPr>
              <a:t>“Why is it wrong?”</a:t>
            </a:r>
            <a:endParaRPr lang="en-US" sz="1300" dirty="0"/>
          </a:p>
        </p:txBody>
      </p:sp>
      <p:sp>
        <p:nvSpPr>
          <p:cNvPr id="14" name="Text 12"/>
          <p:cNvSpPr/>
          <p:nvPr/>
        </p:nvSpPr>
        <p:spPr>
          <a:xfrm>
            <a:off x="4535424" y="2834640"/>
            <a:ext cx="2834640" cy="100584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Still a person. Expensive, slow, and the senior engineer is the only one who is fast at it.</a:t>
            </a:r>
            <a:endParaRPr lang="en-US" sz="1150" dirty="0"/>
          </a:p>
        </p:txBody>
      </p:sp>
      <p:sp>
        <p:nvSpPr>
          <p:cNvPr id="15" name="Text 13"/>
          <p:cNvSpPr/>
          <p:nvPr/>
        </p:nvSpPr>
        <p:spPr>
          <a:xfrm>
            <a:off x="4535424" y="3803904"/>
            <a:ext cx="2743200" cy="237744"/>
          </a:xfrm>
          <a:prstGeom prst="rect">
            <a:avLst/>
          </a:prstGeom>
          <a:noFill/>
          <a:ln/>
        </p:spPr>
        <p:txBody>
          <a:bodyPr wrap="square" lIns="0" tIns="0" rIns="0" bIns="0" rtlCol="0" anchor="ctr"/>
          <a:lstStyle/>
          <a:p>
            <a:pPr indent="0" marL="0">
              <a:buNone/>
            </a:pPr>
            <a:r>
              <a:rPr lang="en-US" sz="950" b="1" spc="160" kern="0" dirty="0">
                <a:solidFill>
                  <a:srgbClr val="FFE600"/>
                </a:solidFill>
                <a:latin typeface="Arial" pitchFamily="34" charset="0"/>
                <a:ea typeface="Arial" pitchFamily="34" charset="-122"/>
                <a:cs typeface="Arial" pitchFamily="34" charset="-120"/>
              </a:rPr>
              <a:t>WE DO THIS</a:t>
            </a:r>
            <a:endParaRPr lang="en-US" sz="950" dirty="0"/>
          </a:p>
        </p:txBody>
      </p:sp>
      <p:sp>
        <p:nvSpPr>
          <p:cNvPr id="16" name="Shape 14"/>
          <p:cNvSpPr/>
          <p:nvPr/>
        </p:nvSpPr>
        <p:spPr>
          <a:xfrm>
            <a:off x="7918704" y="1792224"/>
            <a:ext cx="3401568" cy="2377440"/>
          </a:xfrm>
          <a:prstGeom prst="rect">
            <a:avLst/>
          </a:prstGeom>
          <a:solidFill>
            <a:srgbClr val="3A3A46"/>
          </a:solidFill>
          <a:ln w="12700">
            <a:solidFill>
              <a:srgbClr val="50505C"/>
            </a:solidFill>
            <a:prstDash val="solid"/>
          </a:ln>
        </p:spPr>
      </p:sp>
      <p:sp>
        <p:nvSpPr>
          <p:cNvPr id="17" name="Shape 15"/>
          <p:cNvSpPr/>
          <p:nvPr/>
        </p:nvSpPr>
        <p:spPr>
          <a:xfrm>
            <a:off x="7918704" y="1792224"/>
            <a:ext cx="54864" cy="2377440"/>
          </a:xfrm>
          <a:prstGeom prst="rect">
            <a:avLst/>
          </a:prstGeom>
          <a:solidFill>
            <a:srgbClr val="FFE600"/>
          </a:solidFill>
          <a:ln w="12700">
            <a:solidFill>
              <a:srgbClr val="333333"/>
            </a:solidFill>
            <a:prstDash val="solid"/>
          </a:ln>
        </p:spPr>
      </p:sp>
      <p:sp>
        <p:nvSpPr>
          <p:cNvPr id="18" name="Text 16"/>
          <p:cNvSpPr/>
          <p:nvPr/>
        </p:nvSpPr>
        <p:spPr>
          <a:xfrm>
            <a:off x="8211312" y="2066544"/>
            <a:ext cx="2743200" cy="292608"/>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Fixing</a:t>
            </a:r>
            <a:endParaRPr lang="en-US" sz="1900" dirty="0"/>
          </a:p>
        </p:txBody>
      </p:sp>
      <p:sp>
        <p:nvSpPr>
          <p:cNvPr id="19" name="Text 17"/>
          <p:cNvSpPr/>
          <p:nvPr/>
        </p:nvSpPr>
        <p:spPr>
          <a:xfrm>
            <a:off x="8211312" y="2450592"/>
            <a:ext cx="2834640" cy="310896"/>
          </a:xfrm>
          <a:prstGeom prst="rect">
            <a:avLst/>
          </a:prstGeom>
          <a:noFill/>
          <a:ln/>
        </p:spPr>
        <p:txBody>
          <a:bodyPr wrap="square" lIns="0" tIns="0" rIns="0" bIns="0" rtlCol="0" anchor="ctr"/>
          <a:lstStyle/>
          <a:p>
            <a:pPr indent="0" marL="0">
              <a:buNone/>
            </a:pPr>
            <a:r>
              <a:rPr lang="en-US" sz="1300" i="1" dirty="0">
                <a:solidFill>
                  <a:srgbClr val="FFFFFF"/>
                </a:solidFill>
                <a:latin typeface="Arial" pitchFamily="34" charset="0"/>
                <a:ea typeface="Arial" pitchFamily="34" charset="-122"/>
                <a:cs typeface="Arial" pitchFamily="34" charset="-120"/>
              </a:rPr>
              <a:t>“Make it not wrong.”</a:t>
            </a:r>
            <a:endParaRPr lang="en-US" sz="1300" dirty="0"/>
          </a:p>
        </p:txBody>
      </p:sp>
      <p:sp>
        <p:nvSpPr>
          <p:cNvPr id="20" name="Text 18"/>
          <p:cNvSpPr/>
          <p:nvPr/>
        </p:nvSpPr>
        <p:spPr>
          <a:xfrm>
            <a:off x="8211312" y="2834640"/>
            <a:ext cx="2834640" cy="100584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Still a person. Almost nobody has automated this safely.</a:t>
            </a:r>
            <a:endParaRPr lang="en-US" sz="1150" dirty="0"/>
          </a:p>
        </p:txBody>
      </p:sp>
      <p:sp>
        <p:nvSpPr>
          <p:cNvPr id="21" name="Text 19"/>
          <p:cNvSpPr/>
          <p:nvPr/>
        </p:nvSpPr>
        <p:spPr>
          <a:xfrm>
            <a:off x="8211312" y="3803904"/>
            <a:ext cx="2743200" cy="237744"/>
          </a:xfrm>
          <a:prstGeom prst="rect">
            <a:avLst/>
          </a:prstGeom>
          <a:noFill/>
          <a:ln/>
        </p:spPr>
        <p:txBody>
          <a:bodyPr wrap="square" lIns="0" tIns="0" rIns="0" bIns="0" rtlCol="0" anchor="ctr"/>
          <a:lstStyle/>
          <a:p>
            <a:pPr indent="0" marL="0">
              <a:buNone/>
            </a:pPr>
            <a:r>
              <a:rPr lang="en-US" sz="950" b="1" spc="160" kern="0" dirty="0">
                <a:solidFill>
                  <a:srgbClr val="FFE600"/>
                </a:solidFill>
                <a:latin typeface="Arial" pitchFamily="34" charset="0"/>
                <a:ea typeface="Arial" pitchFamily="34" charset="-122"/>
                <a:cs typeface="Arial" pitchFamily="34" charset="-120"/>
              </a:rPr>
              <a:t>WE DO THIS</a:t>
            </a:r>
            <a:endParaRPr lang="en-US" sz="950" dirty="0"/>
          </a:p>
        </p:txBody>
      </p:sp>
      <p:sp>
        <p:nvSpPr>
          <p:cNvPr id="22" name="Shape 20"/>
          <p:cNvSpPr/>
          <p:nvPr/>
        </p:nvSpPr>
        <p:spPr>
          <a:xfrm>
            <a:off x="566928" y="4443984"/>
            <a:ext cx="10881360" cy="1572768"/>
          </a:xfrm>
          <a:prstGeom prst="rect">
            <a:avLst/>
          </a:prstGeom>
          <a:solidFill>
            <a:srgbClr val="3A3A46"/>
          </a:solidFill>
          <a:ln w="12700">
            <a:solidFill>
              <a:srgbClr val="50505C"/>
            </a:solidFill>
            <a:prstDash val="solid"/>
          </a:ln>
        </p:spPr>
      </p:sp>
      <p:sp>
        <p:nvSpPr>
          <p:cNvPr id="23" name="Shape 21"/>
          <p:cNvSpPr/>
          <p:nvPr/>
        </p:nvSpPr>
        <p:spPr>
          <a:xfrm>
            <a:off x="566928" y="4443984"/>
            <a:ext cx="54864" cy="1572768"/>
          </a:xfrm>
          <a:prstGeom prst="rect">
            <a:avLst/>
          </a:prstGeom>
          <a:solidFill>
            <a:srgbClr val="FFE600"/>
          </a:solidFill>
          <a:ln w="12700">
            <a:solidFill>
              <a:srgbClr val="333333"/>
            </a:solidFill>
            <a:prstDash val="solid"/>
          </a:ln>
        </p:spPr>
      </p:sp>
      <p:sp>
        <p:nvSpPr>
          <p:cNvPr id="24" name="Text 22"/>
          <p:cNvSpPr/>
          <p:nvPr/>
        </p:nvSpPr>
        <p:spPr>
          <a:xfrm>
            <a:off x="896112" y="4681728"/>
            <a:ext cx="82296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Why the distinction decides everything</a:t>
            </a:r>
            <a:endParaRPr lang="en-US" sz="1500" dirty="0"/>
          </a:p>
        </p:txBody>
      </p:sp>
      <p:sp>
        <p:nvSpPr>
          <p:cNvPr id="25" name="Text 23"/>
          <p:cNvSpPr/>
          <p:nvPr/>
        </p:nvSpPr>
        <p:spPr>
          <a:xfrm>
            <a:off x="896112" y="5029200"/>
            <a:ext cx="10241280" cy="822960"/>
          </a:xfrm>
          <a:prstGeom prst="rect">
            <a:avLst/>
          </a:prstGeom>
          <a:noFill/>
          <a:ln/>
        </p:spPr>
        <p:txBody>
          <a:bodyPr wrap="square" lIns="0" tIns="0" rIns="0" bIns="0" rtlCol="0" anchor="ctr"/>
          <a:lstStyle/>
          <a:p>
            <a:pPr indent="0" marL="0">
              <a:lnSpc>
                <a:spcPts val="1938"/>
              </a:lnSpc>
              <a:buNone/>
            </a:pPr>
            <a:r>
              <a:rPr lang="en-US" sz="1250" dirty="0">
                <a:solidFill>
                  <a:srgbClr val="C4C4CD"/>
                </a:solidFill>
                <a:latin typeface="Arial" pitchFamily="34" charset="0"/>
                <a:ea typeface="Arial" pitchFamily="34" charset="-122"/>
                <a:cs typeface="Arial" pitchFamily="34" charset="-120"/>
              </a:rPr>
              <a:t>Called “monitoring”, this competes with Datadog and loses on day one. Called “what happens after the alarm”, it enters a market roughly two years old, where most products still stop at telling you the answer rather than doing anything about it.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WHY NOW</a:t>
            </a:r>
            <a:endParaRPr lang="en-US" sz="1050" dirty="0"/>
          </a:p>
        </p:txBody>
      </p:sp>
      <p:sp>
        <p:nvSpPr>
          <p:cNvPr id="4" name="Text 2"/>
          <p:cNvSpPr/>
          <p:nvPr/>
        </p:nvSpPr>
        <p:spPr>
          <a:xfrm>
            <a:off x="548640" y="841248"/>
            <a:ext cx="10789920" cy="1133856"/>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We did not have too little information.</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We had far too much.</a:t>
            </a:r>
            <a:endParaRPr lang="en-US" sz="3000" dirty="0"/>
          </a:p>
        </p:txBody>
      </p:sp>
      <p:sp>
        <p:nvSpPr>
          <p:cNvPr id="5" name="Text 3"/>
          <p:cNvSpPr/>
          <p:nvPr/>
        </p:nvSpPr>
        <p:spPr>
          <a:xfrm>
            <a:off x="566928" y="2194560"/>
            <a:ext cx="10881360" cy="548640"/>
          </a:xfrm>
          <a:prstGeom prst="rect">
            <a:avLst/>
          </a:prstGeom>
          <a:noFill/>
          <a:ln/>
        </p:spPr>
        <p:txBody>
          <a:bodyPr wrap="square" lIns="0" tIns="0" rIns="0" bIns="0" rtlCol="0" anchor="ctr"/>
          <a:lstStyle/>
          <a:p>
            <a:pPr indent="0" marL="0">
              <a:lnSpc>
                <a:spcPts val="2170"/>
              </a:lnSpc>
              <a:buNone/>
            </a:pPr>
            <a:r>
              <a:rPr lang="en-US" sz="1400" dirty="0">
                <a:solidFill>
                  <a:srgbClr val="C4C4CD"/>
                </a:solidFill>
                <a:latin typeface="Arial" pitchFamily="34" charset="0"/>
                <a:ea typeface="Arial" pitchFamily="34" charset="-122"/>
                <a:cs typeface="Arial" pitchFamily="34" charset="-120"/>
              </a:rPr>
              <a:t>For twenty years the answer to “we cannot see what is happening” was to add more monitoring. It worked, and then it went too far. People stopped being able to listen.</a:t>
            </a:r>
            <a:endParaRPr lang="en-US" sz="1400" dirty="0"/>
          </a:p>
        </p:txBody>
      </p:sp>
      <p:sp>
        <p:nvSpPr>
          <p:cNvPr id="6" name="Text 4"/>
          <p:cNvSpPr/>
          <p:nvPr/>
        </p:nvSpPr>
        <p:spPr>
          <a:xfrm>
            <a:off x="566928" y="3072384"/>
            <a:ext cx="3383280" cy="658368"/>
          </a:xfrm>
          <a:prstGeom prst="rect">
            <a:avLst/>
          </a:prstGeom>
          <a:noFill/>
          <a:ln/>
        </p:spPr>
        <p:txBody>
          <a:bodyPr wrap="square" lIns="0" tIns="0" rIns="0" bIns="0" rtlCol="0" anchor="ctr"/>
          <a:lstStyle/>
          <a:p>
            <a:pPr indent="0" marL="0">
              <a:buNone/>
            </a:pPr>
            <a:r>
              <a:rPr lang="en-US" sz="4000" b="1" dirty="0">
                <a:solidFill>
                  <a:srgbClr val="FFE600"/>
                </a:solidFill>
                <a:latin typeface="Arial" pitchFamily="34" charset="0"/>
                <a:ea typeface="Arial" pitchFamily="34" charset="-122"/>
                <a:cs typeface="Arial" pitchFamily="34" charset="-120"/>
              </a:rPr>
              <a:t>44%</a:t>
            </a:r>
            <a:endParaRPr lang="en-US" sz="4000" dirty="0"/>
          </a:p>
        </p:txBody>
      </p:sp>
      <p:sp>
        <p:nvSpPr>
          <p:cNvPr id="7" name="Text 5"/>
          <p:cNvSpPr/>
          <p:nvPr/>
        </p:nvSpPr>
        <p:spPr>
          <a:xfrm>
            <a:off x="566928" y="3749040"/>
            <a:ext cx="3383280" cy="548640"/>
          </a:xfrm>
          <a:prstGeom prst="rect">
            <a:avLst/>
          </a:prstGeom>
          <a:noFill/>
          <a:ln/>
        </p:spPr>
        <p:txBody>
          <a:bodyPr wrap="square" lIns="0" tIns="0" rIns="0" bIns="0" rtlCol="0" anchor="ctr"/>
          <a:lstStyle/>
          <a:p>
            <a:pPr indent="0" marL="0">
              <a:lnSpc>
                <a:spcPts val="1500"/>
              </a:lnSpc>
              <a:buNone/>
            </a:pPr>
            <a:r>
              <a:rPr lang="en-US" sz="1150" dirty="0">
                <a:solidFill>
                  <a:srgbClr val="C4C4CD"/>
                </a:solidFill>
                <a:latin typeface="Arial" pitchFamily="34" charset="0"/>
                <a:ea typeface="Arial" pitchFamily="34" charset="-122"/>
                <a:cs typeface="Arial" pitchFamily="34" charset="-120"/>
              </a:rPr>
              <a:t>of companies had an outage last year caused by</a:t>
            </a:r>
            <a:endParaRPr lang="en-US" sz="1150" dirty="0"/>
          </a:p>
          <a:p>
            <a:pPr indent="0" marL="0">
              <a:lnSpc>
                <a:spcPts val="1500"/>
              </a:lnSpc>
              <a:buNone/>
            </a:pPr>
            <a:r>
              <a:rPr lang="en-US" sz="1150" dirty="0">
                <a:solidFill>
                  <a:srgbClr val="C4C4CD"/>
                </a:solidFill>
                <a:latin typeface="Arial" pitchFamily="34" charset="0"/>
                <a:ea typeface="Arial" pitchFamily="34" charset="-122"/>
                <a:cs typeface="Arial" pitchFamily="34" charset="-120"/>
              </a:rPr>
              <a:t>an alarm somebody had already switched off</a:t>
            </a:r>
            <a:endParaRPr lang="en-US" sz="1150" dirty="0"/>
          </a:p>
        </p:txBody>
      </p:sp>
      <p:sp>
        <p:nvSpPr>
          <p:cNvPr id="8" name="Text 6"/>
          <p:cNvSpPr/>
          <p:nvPr/>
        </p:nvSpPr>
        <p:spPr>
          <a:xfrm>
            <a:off x="4315968" y="3072384"/>
            <a:ext cx="3383280"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10,000</a:t>
            </a:r>
            <a:endParaRPr lang="en-US" sz="4000" dirty="0"/>
          </a:p>
        </p:txBody>
      </p:sp>
      <p:sp>
        <p:nvSpPr>
          <p:cNvPr id="9" name="Text 7"/>
          <p:cNvSpPr/>
          <p:nvPr/>
        </p:nvSpPr>
        <p:spPr>
          <a:xfrm>
            <a:off x="4315968" y="3749040"/>
            <a:ext cx="3383280" cy="548640"/>
          </a:xfrm>
          <a:prstGeom prst="rect">
            <a:avLst/>
          </a:prstGeom>
          <a:noFill/>
          <a:ln/>
        </p:spPr>
        <p:txBody>
          <a:bodyPr wrap="square" lIns="0" tIns="0" rIns="0" bIns="0" rtlCol="0" anchor="ctr"/>
          <a:lstStyle/>
          <a:p>
            <a:pPr indent="0" marL="0">
              <a:lnSpc>
                <a:spcPts val="1500"/>
              </a:lnSpc>
              <a:buNone/>
            </a:pPr>
            <a:r>
              <a:rPr lang="en-US" sz="1150" dirty="0">
                <a:solidFill>
                  <a:srgbClr val="C4C4CD"/>
                </a:solidFill>
                <a:latin typeface="Arial" pitchFamily="34" charset="0"/>
                <a:ea typeface="Arial" pitchFamily="34" charset="-122"/>
                <a:cs typeface="Arial" pitchFamily="34" charset="-120"/>
              </a:rPr>
              <a:t>alarms a day reaching a typical</a:t>
            </a:r>
            <a:endParaRPr lang="en-US" sz="1150" dirty="0"/>
          </a:p>
          <a:p>
            <a:pPr indent="0" marL="0">
              <a:lnSpc>
                <a:spcPts val="1500"/>
              </a:lnSpc>
              <a:buNone/>
            </a:pPr>
            <a:r>
              <a:rPr lang="en-US" sz="1150" dirty="0">
                <a:solidFill>
                  <a:srgbClr val="C4C4CD"/>
                </a:solidFill>
                <a:latin typeface="Arial" pitchFamily="34" charset="0"/>
                <a:ea typeface="Arial" pitchFamily="34" charset="-122"/>
                <a:cs typeface="Arial" pitchFamily="34" charset="-120"/>
              </a:rPr>
              <a:t>operations team</a:t>
            </a:r>
            <a:endParaRPr lang="en-US" sz="1150" dirty="0"/>
          </a:p>
        </p:txBody>
      </p:sp>
      <p:sp>
        <p:nvSpPr>
          <p:cNvPr id="10" name="Text 8"/>
          <p:cNvSpPr/>
          <p:nvPr/>
        </p:nvSpPr>
        <p:spPr>
          <a:xfrm>
            <a:off x="8065008" y="3072384"/>
            <a:ext cx="3383280" cy="658368"/>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1 in 20</a:t>
            </a:r>
            <a:endParaRPr lang="en-US" sz="4000" dirty="0"/>
          </a:p>
        </p:txBody>
      </p:sp>
      <p:sp>
        <p:nvSpPr>
          <p:cNvPr id="11" name="Text 9"/>
          <p:cNvSpPr/>
          <p:nvPr/>
        </p:nvSpPr>
        <p:spPr>
          <a:xfrm>
            <a:off x="8065008" y="3749040"/>
            <a:ext cx="3383280" cy="548640"/>
          </a:xfrm>
          <a:prstGeom prst="rect">
            <a:avLst/>
          </a:prstGeom>
          <a:noFill/>
          <a:ln/>
        </p:spPr>
        <p:txBody>
          <a:bodyPr wrap="square" lIns="0" tIns="0" rIns="0" bIns="0" rtlCol="0" anchor="ctr"/>
          <a:lstStyle/>
          <a:p>
            <a:pPr indent="0" marL="0">
              <a:lnSpc>
                <a:spcPts val="1500"/>
              </a:lnSpc>
              <a:buNone/>
            </a:pPr>
            <a:r>
              <a:rPr lang="en-US" sz="1150" dirty="0">
                <a:solidFill>
                  <a:srgbClr val="C4C4CD"/>
                </a:solidFill>
                <a:latin typeface="Arial" pitchFamily="34" charset="0"/>
                <a:ea typeface="Arial" pitchFamily="34" charset="-122"/>
                <a:cs typeface="Arial" pitchFamily="34" charset="-120"/>
              </a:rPr>
              <a:t>of those alarms actually needs</a:t>
            </a:r>
            <a:endParaRPr lang="en-US" sz="1150" dirty="0"/>
          </a:p>
          <a:p>
            <a:pPr indent="0" marL="0">
              <a:lnSpc>
                <a:spcPts val="1500"/>
              </a:lnSpc>
              <a:buNone/>
            </a:pPr>
            <a:r>
              <a:rPr lang="en-US" sz="1150" dirty="0">
                <a:solidFill>
                  <a:srgbClr val="C4C4CD"/>
                </a:solidFill>
                <a:latin typeface="Arial" pitchFamily="34" charset="0"/>
                <a:ea typeface="Arial" pitchFamily="34" charset="-122"/>
                <a:cs typeface="Arial" pitchFamily="34" charset="-120"/>
              </a:rPr>
              <a:t>a human being</a:t>
            </a:r>
            <a:endParaRPr lang="en-US" sz="1150" dirty="0"/>
          </a:p>
        </p:txBody>
      </p:sp>
      <p:sp>
        <p:nvSpPr>
          <p:cNvPr id="12" name="Shape 10"/>
          <p:cNvSpPr/>
          <p:nvPr/>
        </p:nvSpPr>
        <p:spPr>
          <a:xfrm>
            <a:off x="566928" y="4864608"/>
            <a:ext cx="10881360" cy="1225296"/>
          </a:xfrm>
          <a:prstGeom prst="rect">
            <a:avLst/>
          </a:prstGeom>
          <a:solidFill>
            <a:srgbClr val="3A3A46"/>
          </a:solidFill>
          <a:ln w="12700">
            <a:solidFill>
              <a:srgbClr val="50505C"/>
            </a:solidFill>
            <a:prstDash val="solid"/>
          </a:ln>
        </p:spPr>
      </p:sp>
      <p:sp>
        <p:nvSpPr>
          <p:cNvPr id="13" name="Shape 11"/>
          <p:cNvSpPr/>
          <p:nvPr/>
        </p:nvSpPr>
        <p:spPr>
          <a:xfrm>
            <a:off x="566928" y="4864608"/>
            <a:ext cx="54864" cy="1225296"/>
          </a:xfrm>
          <a:prstGeom prst="rect">
            <a:avLst/>
          </a:prstGeom>
          <a:solidFill>
            <a:srgbClr val="FFE600"/>
          </a:solidFill>
          <a:ln w="12700">
            <a:solidFill>
              <a:srgbClr val="333333"/>
            </a:solidFill>
            <a:prstDash val="solid"/>
          </a:ln>
        </p:spPr>
      </p:sp>
      <p:sp>
        <p:nvSpPr>
          <p:cNvPr id="14" name="Text 12"/>
          <p:cNvSpPr/>
          <p:nvPr/>
        </p:nvSpPr>
        <p:spPr>
          <a:xfrm>
            <a:off x="896112" y="5102352"/>
            <a:ext cx="10241280" cy="731520"/>
          </a:xfrm>
          <a:prstGeom prst="rect">
            <a:avLst/>
          </a:prstGeom>
          <a:noFill/>
          <a:ln/>
        </p:spPr>
        <p:txBody>
          <a:bodyPr wrap="square" lIns="0" tIns="0" rIns="0" bIns="0" rtlCol="0" anchor="ctr"/>
          <a:lstStyle/>
          <a:p>
            <a:pPr indent="0" marL="0">
              <a:lnSpc>
                <a:spcPts val="2093"/>
              </a:lnSpc>
              <a:buNone/>
            </a:pPr>
            <a:r>
              <a:rPr lang="en-US" sz="1350" dirty="0">
                <a:solidFill>
                  <a:srgbClr val="FFFFFF"/>
                </a:solidFill>
                <a:latin typeface="Arial" pitchFamily="34" charset="0"/>
                <a:ea typeface="Arial" pitchFamily="34" charset="-122"/>
                <a:cs typeface="Arial" pitchFamily="34" charset="-120"/>
              </a:rPr>
              <a:t>Read the first number again. The outage was not caused by nobody knowing. It was caused by somebody having been told so many times that they had stopped looking. Another dashboard makes that worse, not better.</a:t>
            </a:r>
            <a:endParaRPr lang="en-US" sz="1350" dirty="0"/>
          </a:p>
        </p:txBody>
      </p:sp>
      <p:sp>
        <p:nvSpPr>
          <p:cNvPr id="15" name="Text 13"/>
          <p:cNvSpPr/>
          <p:nvPr/>
        </p:nvSpPr>
        <p:spPr>
          <a:xfrm>
            <a:off x="566928" y="6272784"/>
            <a:ext cx="8229600" cy="219456"/>
          </a:xfrm>
          <a:prstGeom prst="rect">
            <a:avLst/>
          </a:prstGeom>
          <a:noFill/>
          <a:ln/>
        </p:spPr>
        <p:txBody>
          <a:bodyPr wrap="square" lIns="0" tIns="0" rIns="0" bIns="0" rtlCol="0" anchor="ctr"/>
          <a:lstStyle/>
          <a:p>
            <a:pPr indent="0" marL="0">
              <a:buNone/>
            </a:pPr>
            <a:r>
              <a:rPr lang="en-US" sz="900" dirty="0">
                <a:solidFill>
                  <a:srgbClr val="8B8B98"/>
                </a:solidFill>
                <a:latin typeface="Arial" pitchFamily="34" charset="0"/>
                <a:ea typeface="Arial" pitchFamily="34" charset="-122"/>
                <a:cs typeface="Arial" pitchFamily="34" charset="-120"/>
              </a:rPr>
              <a:t>2026 State of Production Reliability report · 1,039 practitioners surveyed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THE SOLUTION</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So we gave the judgement to an assistant</a:t>
            </a:r>
            <a:endParaRPr lang="en-US" sz="3000" dirty="0"/>
          </a:p>
        </p:txBody>
      </p:sp>
      <p:sp>
        <p:nvSpPr>
          <p:cNvPr id="5" name="Text 3"/>
          <p:cNvSpPr/>
          <p:nvPr/>
        </p:nvSpPr>
        <p:spPr>
          <a:xfrm>
            <a:off x="566928" y="1700784"/>
            <a:ext cx="10881360" cy="548640"/>
          </a:xfrm>
          <a:prstGeom prst="rect">
            <a:avLst/>
          </a:prstGeom>
          <a:noFill/>
          <a:ln/>
        </p:spPr>
        <p:txBody>
          <a:bodyPr wrap="square" lIns="0" tIns="0" rIns="0" bIns="0" rtlCol="0" anchor="ctr"/>
          <a:lstStyle/>
          <a:p>
            <a:pPr indent="0" marL="0">
              <a:lnSpc>
                <a:spcPts val="2170"/>
              </a:lnSpc>
              <a:buNone/>
            </a:pPr>
            <a:r>
              <a:rPr lang="en-US" sz="1400" dirty="0">
                <a:solidFill>
                  <a:srgbClr val="FFFFFF"/>
                </a:solidFill>
                <a:latin typeface="Arial" pitchFamily="34" charset="0"/>
                <a:ea typeface="Arial" pitchFamily="34" charset="-122"/>
                <a:cs typeface="Arial" pitchFamily="34" charset="-120"/>
              </a:rPr>
              <a:t>You describe the problem the way you would to a colleague. It works out which checks to run, runs them on the real machine, and tells you what it found in plain language — showing every step it took.</a:t>
            </a:r>
            <a:endParaRPr lang="en-US" sz="1400" dirty="0"/>
          </a:p>
        </p:txBody>
      </p:sp>
      <p:pic>
        <p:nvPicPr>
          <p:cNvPr id="6" name="Image 0" descr="preencoded.png">    </p:cNvPr>
          <p:cNvPicPr>
            <a:picLocks noChangeAspect="1"/>
          </p:cNvPicPr>
          <p:nvPr/>
        </p:nvPicPr>
        <p:blipFill>
          <a:blip r:embed="rId1"/>
          <a:stretch>
            <a:fillRect/>
          </a:stretch>
        </p:blipFill>
        <p:spPr>
          <a:xfrm>
            <a:off x="566928" y="2377440"/>
            <a:ext cx="10881360" cy="3360420"/>
          </a:xfrm>
          <a:prstGeom prst="rect">
            <a:avLst/>
          </a:prstGeom>
        </p:spPr>
      </p:pic>
      <p:sp>
        <p:nvSpPr>
          <p:cNvPr id="7" name="Shape 4"/>
          <p:cNvSpPr/>
          <p:nvPr/>
        </p:nvSpPr>
        <p:spPr>
          <a:xfrm>
            <a:off x="566928" y="2377440"/>
            <a:ext cx="10881360" cy="3360420"/>
          </a:xfrm>
          <a:prstGeom prst="rect">
            <a:avLst/>
          </a:prstGeom>
          <a:ln w="12700">
            <a:solidFill>
              <a:srgbClr val="50505C"/>
            </a:solidFill>
            <a:prstDash val="solid"/>
          </a:ln>
        </p:spPr>
      </p:sp>
      <p:sp>
        <p:nvSpPr>
          <p:cNvPr id="8" name="Text 5"/>
          <p:cNvSpPr/>
          <p:nvPr/>
        </p:nvSpPr>
        <p:spPr>
          <a:xfrm>
            <a:off x="566928" y="5120640"/>
            <a:ext cx="33832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You ask</a:t>
            </a:r>
            <a:endParaRPr lang="en-US" sz="1400" dirty="0"/>
          </a:p>
        </p:txBody>
      </p:sp>
      <p:sp>
        <p:nvSpPr>
          <p:cNvPr id="9" name="Text 6"/>
          <p:cNvSpPr/>
          <p:nvPr/>
        </p:nvSpPr>
        <p:spPr>
          <a:xfrm>
            <a:off x="566928" y="5413248"/>
            <a:ext cx="3383280" cy="64008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In your own words. No commands, no syntax.</a:t>
            </a:r>
            <a:endParaRPr lang="en-US" sz="1150" dirty="0"/>
          </a:p>
        </p:txBody>
      </p:sp>
      <p:sp>
        <p:nvSpPr>
          <p:cNvPr id="10" name="Text 7"/>
          <p:cNvSpPr/>
          <p:nvPr/>
        </p:nvSpPr>
        <p:spPr>
          <a:xfrm>
            <a:off x="4242816" y="5120640"/>
            <a:ext cx="33832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It decides</a:t>
            </a:r>
            <a:endParaRPr lang="en-US" sz="1400" dirty="0"/>
          </a:p>
        </p:txBody>
      </p:sp>
      <p:sp>
        <p:nvSpPr>
          <p:cNvPr id="11" name="Text 8"/>
          <p:cNvSpPr/>
          <p:nvPr/>
        </p:nvSpPr>
        <p:spPr>
          <a:xfrm>
            <a:off x="4242816" y="5413248"/>
            <a:ext cx="3383280" cy="64008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Which checks matter, and what to look at next based on what it just found.</a:t>
            </a:r>
            <a:endParaRPr lang="en-US" sz="1150" dirty="0"/>
          </a:p>
        </p:txBody>
      </p:sp>
      <p:sp>
        <p:nvSpPr>
          <p:cNvPr id="12" name="Text 9"/>
          <p:cNvSpPr/>
          <p:nvPr/>
        </p:nvSpPr>
        <p:spPr>
          <a:xfrm>
            <a:off x="7918704" y="5120640"/>
            <a:ext cx="33832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It reports</a:t>
            </a:r>
            <a:endParaRPr lang="en-US" sz="1400" dirty="0"/>
          </a:p>
        </p:txBody>
      </p:sp>
      <p:sp>
        <p:nvSpPr>
          <p:cNvPr id="13" name="Text 10"/>
          <p:cNvSpPr/>
          <p:nvPr/>
        </p:nvSpPr>
        <p:spPr>
          <a:xfrm>
            <a:off x="7918704" y="5413248"/>
            <a:ext cx="3383280" cy="64008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Plain language, with a clear verdict: healthy, warning, or critical.</a:t>
            </a:r>
            <a:endParaRPr lang="en-US" sz="1150" dirty="0"/>
          </a:p>
        </p:txBody>
      </p:sp>
      <p:sp>
        <p:nvSpPr>
          <p:cNvPr id="14" name="Text 11"/>
          <p:cNvSpPr/>
          <p:nvPr/>
        </p:nvSpPr>
        <p:spPr>
          <a:xfrm>
            <a:off x="566928" y="6254496"/>
            <a:ext cx="1517904" cy="201168"/>
          </a:xfrm>
          <a:prstGeom prst="rect">
            <a:avLst/>
          </a:prstGeom>
          <a:noFill/>
          <a:ln/>
        </p:spPr>
        <p:txBody>
          <a:bodyPr wrap="square" lIns="0" tIns="0" rIns="0" bIns="0" rtlCol="0" anchor="ctr"/>
          <a:lstStyle/>
          <a:p>
            <a:pPr indent="0" marL="0">
              <a:buNone/>
            </a:pPr>
            <a:r>
              <a:rPr lang="en-US" sz="850" b="1" spc="160" kern="0" dirty="0">
                <a:solidFill>
                  <a:srgbClr val="FFE600"/>
                </a:solidFill>
                <a:latin typeface="Arial" pitchFamily="34" charset="0"/>
                <a:ea typeface="Arial" pitchFamily="34" charset="-122"/>
                <a:cs typeface="Arial" pitchFamily="34" charset="-120"/>
              </a:rPr>
              <a:t>UNDER THE HOOD</a:t>
            </a:r>
            <a:endParaRPr lang="en-US" sz="850" dirty="0"/>
          </a:p>
        </p:txBody>
      </p:sp>
      <p:sp>
        <p:nvSpPr>
          <p:cNvPr id="15" name="Text 12"/>
          <p:cNvSpPr/>
          <p:nvPr/>
        </p:nvSpPr>
        <p:spPr>
          <a:xfrm>
            <a:off x="2139696" y="6254496"/>
            <a:ext cx="9308592" cy="310896"/>
          </a:xfrm>
          <a:prstGeom prst="rect">
            <a:avLst/>
          </a:prstGeom>
          <a:noFill/>
          <a:ln/>
        </p:spPr>
        <p:txBody>
          <a:bodyPr wrap="square" lIns="0" tIns="0" rIns="0" bIns="0" rtlCol="0" anchor="ctr"/>
          <a:lstStyle/>
          <a:p>
            <a:pPr indent="0" marL="0">
              <a:lnSpc>
                <a:spcPts val="1300"/>
              </a:lnSpc>
              <a:buNone/>
            </a:pPr>
            <a:r>
              <a:rPr lang="en-US" sz="1000" dirty="0">
                <a:solidFill>
                  <a:srgbClr val="8B8B98"/>
                </a:solidFill>
                <a:latin typeface="Arial" pitchFamily="34" charset="0"/>
                <a:ea typeface="Arial" pitchFamily="34" charset="-122"/>
                <a:cs typeface="Arial" pitchFamily="34" charset="-120"/>
              </a:rPr>
              <a:t>Three ReAct agents on Groq (llama-3.3-70b, temperature 0). 33 Python tools reading the host through psutil.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THE FLEET</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Three specialists, not one know-it-all</a:t>
            </a:r>
            <a:endParaRPr lang="en-US" sz="3000" dirty="0"/>
          </a:p>
        </p:txBody>
      </p:sp>
      <p:sp>
        <p:nvSpPr>
          <p:cNvPr id="5" name="Text 3"/>
          <p:cNvSpPr/>
          <p:nvPr/>
        </p:nvSpPr>
        <p:spPr>
          <a:xfrm>
            <a:off x="566928" y="1700784"/>
            <a:ext cx="10881360" cy="548640"/>
          </a:xfrm>
          <a:prstGeom prst="rect">
            <a:avLst/>
          </a:prstGeom>
          <a:noFill/>
          <a:ln/>
        </p:spPr>
        <p:txBody>
          <a:bodyPr wrap="square" lIns="0" tIns="0" rIns="0" bIns="0" rtlCol="0" anchor="ctr"/>
          <a:lstStyle/>
          <a:p>
            <a:pPr indent="0" marL="0">
              <a:lnSpc>
                <a:spcPts val="2093"/>
              </a:lnSpc>
              <a:buNone/>
            </a:pPr>
            <a:r>
              <a:rPr lang="en-US" sz="1350" dirty="0">
                <a:solidFill>
                  <a:srgbClr val="C4C4CD"/>
                </a:solidFill>
                <a:latin typeface="Arial" pitchFamily="34" charset="0"/>
                <a:ea typeface="Arial" pitchFamily="34" charset="-122"/>
                <a:cs typeface="Arial" pitchFamily="34" charset="-120"/>
              </a:rPr>
              <a:t>Each one has its own narrow set of abilities and nothing else. That is a safety decision as much as an organisational one — the log reader physically cannot delete a backup, because it was never given the ability.</a:t>
            </a:r>
            <a:endParaRPr lang="en-US" sz="1350" dirty="0"/>
          </a:p>
        </p:txBody>
      </p:sp>
      <p:pic>
        <p:nvPicPr>
          <p:cNvPr id="6" name="Image 0" descr="preencoded.png">    </p:cNvPr>
          <p:cNvPicPr>
            <a:picLocks noChangeAspect="1"/>
          </p:cNvPicPr>
          <p:nvPr/>
        </p:nvPicPr>
        <p:blipFill>
          <a:blip r:embed="rId1"/>
          <a:stretch>
            <a:fillRect/>
          </a:stretch>
        </p:blipFill>
        <p:spPr>
          <a:xfrm>
            <a:off x="566928" y="2340864"/>
            <a:ext cx="10881360" cy="2838616"/>
          </a:xfrm>
          <a:prstGeom prst="rect">
            <a:avLst/>
          </a:prstGeom>
        </p:spPr>
      </p:pic>
      <p:sp>
        <p:nvSpPr>
          <p:cNvPr id="7" name="Shape 4"/>
          <p:cNvSpPr/>
          <p:nvPr/>
        </p:nvSpPr>
        <p:spPr>
          <a:xfrm>
            <a:off x="566928" y="2340864"/>
            <a:ext cx="10881360" cy="2838616"/>
          </a:xfrm>
          <a:prstGeom prst="rect">
            <a:avLst/>
          </a:prstGeom>
          <a:ln w="12700">
            <a:solidFill>
              <a:srgbClr val="50505C"/>
            </a:solidFill>
            <a:prstDash val="solid"/>
          </a:ln>
        </p:spPr>
      </p:sp>
      <p:sp>
        <p:nvSpPr>
          <p:cNvPr id="8" name="Shape 5"/>
          <p:cNvSpPr/>
          <p:nvPr/>
        </p:nvSpPr>
        <p:spPr>
          <a:xfrm>
            <a:off x="566928" y="4315968"/>
            <a:ext cx="3401568" cy="1883664"/>
          </a:xfrm>
          <a:prstGeom prst="rect">
            <a:avLst/>
          </a:prstGeom>
          <a:solidFill>
            <a:srgbClr val="3A3A46"/>
          </a:solidFill>
          <a:ln w="12700">
            <a:solidFill>
              <a:srgbClr val="50505C"/>
            </a:solidFill>
            <a:prstDash val="solid"/>
          </a:ln>
        </p:spPr>
      </p:sp>
      <p:sp>
        <p:nvSpPr>
          <p:cNvPr id="9" name="Text 6"/>
          <p:cNvSpPr/>
          <p:nvPr/>
        </p:nvSpPr>
        <p:spPr>
          <a:xfrm>
            <a:off x="841248" y="4535424"/>
            <a:ext cx="29260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System Health</a:t>
            </a:r>
            <a:endParaRPr lang="en-US" sz="1400" dirty="0"/>
          </a:p>
        </p:txBody>
      </p:sp>
      <p:sp>
        <p:nvSpPr>
          <p:cNvPr id="10" name="Text 7"/>
          <p:cNvSpPr/>
          <p:nvPr/>
        </p:nvSpPr>
        <p:spPr>
          <a:xfrm>
            <a:off x="841248" y="4828032"/>
            <a:ext cx="2926080" cy="274320"/>
          </a:xfrm>
          <a:prstGeom prst="rect">
            <a:avLst/>
          </a:prstGeom>
          <a:noFill/>
          <a:ln/>
        </p:spPr>
        <p:txBody>
          <a:bodyPr wrap="square" lIns="0" tIns="0" rIns="0" bIns="0" rtlCol="0" anchor="ctr"/>
          <a:lstStyle/>
          <a:p>
            <a:pPr indent="0" marL="0">
              <a:buNone/>
            </a:pPr>
            <a:r>
              <a:rPr lang="en-US" sz="1100" i="1" dirty="0">
                <a:solidFill>
                  <a:srgbClr val="FFFFFF"/>
                </a:solidFill>
                <a:latin typeface="Arial" pitchFamily="34" charset="0"/>
                <a:ea typeface="Arial" pitchFamily="34" charset="-122"/>
                <a:cs typeface="Arial" pitchFamily="34" charset="-120"/>
              </a:rPr>
              <a:t>Is the machine healthy?</a:t>
            </a:r>
            <a:endParaRPr lang="en-US" sz="1100" dirty="0"/>
          </a:p>
        </p:txBody>
      </p:sp>
      <p:sp>
        <p:nvSpPr>
          <p:cNvPr id="11" name="Text 8"/>
          <p:cNvSpPr/>
          <p:nvPr/>
        </p:nvSpPr>
        <p:spPr>
          <a:xfrm>
            <a:off x="841248" y="5138928"/>
            <a:ext cx="2926080" cy="731520"/>
          </a:xfrm>
          <a:prstGeom prst="rect">
            <a:avLst/>
          </a:prstGeom>
          <a:noFill/>
          <a:ln/>
        </p:spPr>
        <p:txBody>
          <a:bodyPr wrap="square" lIns="0" tIns="0" rIns="0" bIns="0" rtlCol="0" anchor="ctr"/>
          <a:lstStyle/>
          <a:p>
            <a:pPr indent="0" marL="0">
              <a:lnSpc>
                <a:spcPts val="1628"/>
              </a:lnSpc>
              <a:buNone/>
            </a:pPr>
            <a:r>
              <a:rPr lang="en-US" sz="1050" dirty="0">
                <a:solidFill>
                  <a:srgbClr val="C4C4CD"/>
                </a:solidFill>
                <a:latin typeface="Arial" pitchFamily="34" charset="0"/>
                <a:ea typeface="Arial" pitchFamily="34" charset="-122"/>
                <a:cs typeface="Arial" pitchFamily="34" charset="-120"/>
              </a:rPr>
              <a:t>Looks at processor, memory, disk, network, running programs, services, ports.</a:t>
            </a:r>
            <a:endParaRPr lang="en-US" sz="1050" dirty="0"/>
          </a:p>
        </p:txBody>
      </p:sp>
      <p:sp>
        <p:nvSpPr>
          <p:cNvPr id="12" name="Text 9"/>
          <p:cNvSpPr/>
          <p:nvPr/>
        </p:nvSpPr>
        <p:spPr>
          <a:xfrm>
            <a:off x="841248" y="5870448"/>
            <a:ext cx="2743200" cy="219456"/>
          </a:xfrm>
          <a:prstGeom prst="rect">
            <a:avLst/>
          </a:prstGeom>
          <a:noFill/>
          <a:ln/>
        </p:spPr>
        <p:txBody>
          <a:bodyPr wrap="square" lIns="0" tIns="0" rIns="0" bIns="0" rtlCol="0" anchor="ctr"/>
          <a:lstStyle/>
          <a:p>
            <a:pPr indent="0" marL="0">
              <a:buNone/>
            </a:pPr>
            <a:r>
              <a:rPr lang="en-US" sz="950" b="1" spc="150" kern="0" dirty="0">
                <a:solidFill>
                  <a:srgbClr val="8B8B98"/>
                </a:solidFill>
                <a:latin typeface="Arial" pitchFamily="34" charset="0"/>
                <a:ea typeface="Arial" pitchFamily="34" charset="-122"/>
                <a:cs typeface="Arial" pitchFamily="34" charset="-120"/>
              </a:rPr>
              <a:t>LOOKS ONLY</a:t>
            </a:r>
            <a:endParaRPr lang="en-US" sz="950" dirty="0"/>
          </a:p>
        </p:txBody>
      </p:sp>
      <p:sp>
        <p:nvSpPr>
          <p:cNvPr id="13" name="Shape 10"/>
          <p:cNvSpPr/>
          <p:nvPr/>
        </p:nvSpPr>
        <p:spPr>
          <a:xfrm>
            <a:off x="4242816" y="4315968"/>
            <a:ext cx="3401568" cy="1883664"/>
          </a:xfrm>
          <a:prstGeom prst="rect">
            <a:avLst/>
          </a:prstGeom>
          <a:solidFill>
            <a:srgbClr val="3A3A46"/>
          </a:solidFill>
          <a:ln w="12700">
            <a:solidFill>
              <a:srgbClr val="50505C"/>
            </a:solidFill>
            <a:prstDash val="solid"/>
          </a:ln>
        </p:spPr>
      </p:sp>
      <p:sp>
        <p:nvSpPr>
          <p:cNvPr id="14" name="Text 11"/>
          <p:cNvSpPr/>
          <p:nvPr/>
        </p:nvSpPr>
        <p:spPr>
          <a:xfrm>
            <a:off x="4517136" y="4535424"/>
            <a:ext cx="29260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Log Analyzer</a:t>
            </a:r>
            <a:endParaRPr lang="en-US" sz="1400" dirty="0"/>
          </a:p>
        </p:txBody>
      </p:sp>
      <p:sp>
        <p:nvSpPr>
          <p:cNvPr id="15" name="Text 12"/>
          <p:cNvSpPr/>
          <p:nvPr/>
        </p:nvSpPr>
        <p:spPr>
          <a:xfrm>
            <a:off x="4517136" y="4828032"/>
            <a:ext cx="2926080" cy="274320"/>
          </a:xfrm>
          <a:prstGeom prst="rect">
            <a:avLst/>
          </a:prstGeom>
          <a:noFill/>
          <a:ln/>
        </p:spPr>
        <p:txBody>
          <a:bodyPr wrap="square" lIns="0" tIns="0" rIns="0" bIns="0" rtlCol="0" anchor="ctr"/>
          <a:lstStyle/>
          <a:p>
            <a:pPr indent="0" marL="0">
              <a:buNone/>
            </a:pPr>
            <a:r>
              <a:rPr lang="en-US" sz="1100" i="1" dirty="0">
                <a:solidFill>
                  <a:srgbClr val="FFFFFF"/>
                </a:solidFill>
                <a:latin typeface="Arial" pitchFamily="34" charset="0"/>
                <a:ea typeface="Arial" pitchFamily="34" charset="-122"/>
                <a:cs typeface="Arial" pitchFamily="34" charset="-120"/>
              </a:rPr>
              <a:t>What do the records say?</a:t>
            </a:r>
            <a:endParaRPr lang="en-US" sz="1100" dirty="0"/>
          </a:p>
        </p:txBody>
      </p:sp>
      <p:sp>
        <p:nvSpPr>
          <p:cNvPr id="16" name="Text 13"/>
          <p:cNvSpPr/>
          <p:nvPr/>
        </p:nvSpPr>
        <p:spPr>
          <a:xfrm>
            <a:off x="4517136" y="5138928"/>
            <a:ext cx="2926080" cy="731520"/>
          </a:xfrm>
          <a:prstGeom prst="rect">
            <a:avLst/>
          </a:prstGeom>
          <a:noFill/>
          <a:ln/>
        </p:spPr>
        <p:txBody>
          <a:bodyPr wrap="square" lIns="0" tIns="0" rIns="0" bIns="0" rtlCol="0" anchor="ctr"/>
          <a:lstStyle/>
          <a:p>
            <a:pPr indent="0" marL="0">
              <a:lnSpc>
                <a:spcPts val="1628"/>
              </a:lnSpc>
              <a:buNone/>
            </a:pPr>
            <a:r>
              <a:rPr lang="en-US" sz="1050" dirty="0">
                <a:solidFill>
                  <a:srgbClr val="C4C4CD"/>
                </a:solidFill>
                <a:latin typeface="Arial" pitchFamily="34" charset="0"/>
                <a:ea typeface="Arial" pitchFamily="34" charset="-122"/>
                <a:cs typeface="Arial" pitchFamily="34" charset="-120"/>
              </a:rPr>
              <a:t>Reads the machine's own logs, counts the errors, finds the pattern, explains it.</a:t>
            </a:r>
            <a:endParaRPr lang="en-US" sz="1050" dirty="0"/>
          </a:p>
        </p:txBody>
      </p:sp>
      <p:sp>
        <p:nvSpPr>
          <p:cNvPr id="17" name="Text 14"/>
          <p:cNvSpPr/>
          <p:nvPr/>
        </p:nvSpPr>
        <p:spPr>
          <a:xfrm>
            <a:off x="4517136" y="5870448"/>
            <a:ext cx="2743200" cy="219456"/>
          </a:xfrm>
          <a:prstGeom prst="rect">
            <a:avLst/>
          </a:prstGeom>
          <a:noFill/>
          <a:ln/>
        </p:spPr>
        <p:txBody>
          <a:bodyPr wrap="square" lIns="0" tIns="0" rIns="0" bIns="0" rtlCol="0" anchor="ctr"/>
          <a:lstStyle/>
          <a:p>
            <a:pPr indent="0" marL="0">
              <a:buNone/>
            </a:pPr>
            <a:r>
              <a:rPr lang="en-US" sz="950" b="1" spc="150" kern="0" dirty="0">
                <a:solidFill>
                  <a:srgbClr val="8B8B98"/>
                </a:solidFill>
                <a:latin typeface="Arial" pitchFamily="34" charset="0"/>
                <a:ea typeface="Arial" pitchFamily="34" charset="-122"/>
                <a:cs typeface="Arial" pitchFamily="34" charset="-120"/>
              </a:rPr>
              <a:t>LOOKS ONLY</a:t>
            </a:r>
            <a:endParaRPr lang="en-US" sz="950" dirty="0"/>
          </a:p>
        </p:txBody>
      </p:sp>
      <p:sp>
        <p:nvSpPr>
          <p:cNvPr id="18" name="Shape 15"/>
          <p:cNvSpPr/>
          <p:nvPr/>
        </p:nvSpPr>
        <p:spPr>
          <a:xfrm>
            <a:off x="7918704" y="4315968"/>
            <a:ext cx="3401568" cy="1883664"/>
          </a:xfrm>
          <a:prstGeom prst="rect">
            <a:avLst/>
          </a:prstGeom>
          <a:solidFill>
            <a:srgbClr val="3A3A46"/>
          </a:solidFill>
          <a:ln w="12700">
            <a:solidFill>
              <a:srgbClr val="50505C"/>
            </a:solidFill>
            <a:prstDash val="solid"/>
          </a:ln>
        </p:spPr>
      </p:sp>
      <p:sp>
        <p:nvSpPr>
          <p:cNvPr id="19" name="Shape 16"/>
          <p:cNvSpPr/>
          <p:nvPr/>
        </p:nvSpPr>
        <p:spPr>
          <a:xfrm>
            <a:off x="7918704" y="4315968"/>
            <a:ext cx="54864" cy="1883664"/>
          </a:xfrm>
          <a:prstGeom prst="rect">
            <a:avLst/>
          </a:prstGeom>
          <a:solidFill>
            <a:srgbClr val="FFE600"/>
          </a:solidFill>
          <a:ln w="12700">
            <a:solidFill>
              <a:srgbClr val="333333"/>
            </a:solidFill>
            <a:prstDash val="solid"/>
          </a:ln>
        </p:spPr>
      </p:sp>
      <p:sp>
        <p:nvSpPr>
          <p:cNvPr id="20" name="Text 17"/>
          <p:cNvSpPr/>
          <p:nvPr/>
        </p:nvSpPr>
        <p:spPr>
          <a:xfrm>
            <a:off x="8193024" y="4535424"/>
            <a:ext cx="29260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Backup &amp; DR</a:t>
            </a:r>
            <a:endParaRPr lang="en-US" sz="1400" dirty="0"/>
          </a:p>
        </p:txBody>
      </p:sp>
      <p:sp>
        <p:nvSpPr>
          <p:cNvPr id="21" name="Text 18"/>
          <p:cNvSpPr/>
          <p:nvPr/>
        </p:nvSpPr>
        <p:spPr>
          <a:xfrm>
            <a:off x="8193024" y="4828032"/>
            <a:ext cx="2926080" cy="274320"/>
          </a:xfrm>
          <a:prstGeom prst="rect">
            <a:avLst/>
          </a:prstGeom>
          <a:noFill/>
          <a:ln/>
        </p:spPr>
        <p:txBody>
          <a:bodyPr wrap="square" lIns="0" tIns="0" rIns="0" bIns="0" rtlCol="0" anchor="ctr"/>
          <a:lstStyle/>
          <a:p>
            <a:pPr indent="0" marL="0">
              <a:buNone/>
            </a:pPr>
            <a:r>
              <a:rPr lang="en-US" sz="1100" i="1" dirty="0">
                <a:solidFill>
                  <a:srgbClr val="FFFFFF"/>
                </a:solidFill>
                <a:latin typeface="Arial" pitchFamily="34" charset="0"/>
                <a:ea typeface="Arial" pitchFamily="34" charset="-122"/>
                <a:cs typeface="Arial" pitchFamily="34" charset="-120"/>
              </a:rPr>
              <a:t>Is the data safe — and can we fix it?</a:t>
            </a:r>
            <a:endParaRPr lang="en-US" sz="1100" dirty="0"/>
          </a:p>
        </p:txBody>
      </p:sp>
      <p:sp>
        <p:nvSpPr>
          <p:cNvPr id="22" name="Text 19"/>
          <p:cNvSpPr/>
          <p:nvPr/>
        </p:nvSpPr>
        <p:spPr>
          <a:xfrm>
            <a:off x="8193024" y="5138928"/>
            <a:ext cx="2926080" cy="731520"/>
          </a:xfrm>
          <a:prstGeom prst="rect">
            <a:avLst/>
          </a:prstGeom>
          <a:noFill/>
          <a:ln/>
        </p:spPr>
        <p:txBody>
          <a:bodyPr wrap="square" lIns="0" tIns="0" rIns="0" bIns="0" rtlCol="0" anchor="ctr"/>
          <a:lstStyle/>
          <a:p>
            <a:pPr indent="0" marL="0">
              <a:lnSpc>
                <a:spcPts val="1628"/>
              </a:lnSpc>
              <a:buNone/>
            </a:pPr>
            <a:r>
              <a:rPr lang="en-US" sz="1050" dirty="0">
                <a:solidFill>
                  <a:srgbClr val="C4C4CD"/>
                </a:solidFill>
                <a:latin typeface="Arial" pitchFamily="34" charset="0"/>
                <a:ea typeface="Arial" pitchFamily="34" charset="-122"/>
                <a:cs typeface="Arial" pitchFamily="34" charset="-120"/>
              </a:rPr>
              <a:t>Takes backups, checks they are intact, restores them, reports recovery readiness.</a:t>
            </a:r>
            <a:endParaRPr lang="en-US" sz="1050" dirty="0"/>
          </a:p>
        </p:txBody>
      </p:sp>
      <p:sp>
        <p:nvSpPr>
          <p:cNvPr id="23" name="Text 20"/>
          <p:cNvSpPr/>
          <p:nvPr/>
        </p:nvSpPr>
        <p:spPr>
          <a:xfrm>
            <a:off x="8193024" y="5870448"/>
            <a:ext cx="2743200" cy="219456"/>
          </a:xfrm>
          <a:prstGeom prst="rect">
            <a:avLst/>
          </a:prstGeom>
          <a:noFill/>
          <a:ln/>
        </p:spPr>
        <p:txBody>
          <a:bodyPr wrap="square" lIns="0" tIns="0" rIns="0" bIns="0" rtlCol="0" anchor="ctr"/>
          <a:lstStyle/>
          <a:p>
            <a:pPr indent="0" marL="0">
              <a:buNone/>
            </a:pPr>
            <a:r>
              <a:rPr lang="en-US" sz="950" b="1" spc="150" kern="0" dirty="0">
                <a:solidFill>
                  <a:srgbClr val="FFE600"/>
                </a:solidFill>
                <a:latin typeface="Arial" pitchFamily="34" charset="0"/>
                <a:ea typeface="Arial" pitchFamily="34" charset="-122"/>
                <a:cs typeface="Arial" pitchFamily="34" charset="-120"/>
              </a:rPr>
              <a:t>CAN ACT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ORCHESTRATOR</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 should not have to know who to ask</a:t>
            </a:r>
            <a:endParaRPr lang="en-US" sz="3000" dirty="0"/>
          </a:p>
        </p:txBody>
      </p:sp>
      <p:sp>
        <p:nvSpPr>
          <p:cNvPr id="5" name="Text 3"/>
          <p:cNvSpPr/>
          <p:nvPr/>
        </p:nvSpPr>
        <p:spPr>
          <a:xfrm>
            <a:off x="566928" y="1700784"/>
            <a:ext cx="5852160" cy="822960"/>
          </a:xfrm>
          <a:prstGeom prst="rect">
            <a:avLst/>
          </a:prstGeom>
          <a:noFill/>
          <a:ln/>
        </p:spPr>
        <p:txBody>
          <a:bodyPr wrap="square" lIns="0" tIns="0" rIns="0" bIns="0" rtlCol="0" anchor="ctr"/>
          <a:lstStyle/>
          <a:p>
            <a:pPr indent="0" marL="0">
              <a:lnSpc>
                <a:spcPts val="2093"/>
              </a:lnSpc>
              <a:buNone/>
            </a:pPr>
            <a:r>
              <a:rPr lang="en-US" sz="1350" dirty="0">
                <a:solidFill>
                  <a:srgbClr val="C4C4CD"/>
                </a:solidFill>
                <a:latin typeface="Arial" pitchFamily="34" charset="0"/>
                <a:ea typeface="Arial" pitchFamily="34" charset="-122"/>
                <a:cs typeface="Arial" pitchFamily="34" charset="-120"/>
              </a:rPr>
              <a:t>Nobody calling a help desk knows whether their problem belongs to the storage team or the network team. So you describe the symptom, and it works out which specialist owns it.</a:t>
            </a:r>
            <a:endParaRPr lang="en-US" sz="1350" dirty="0"/>
          </a:p>
        </p:txBody>
      </p:sp>
      <p:sp>
        <p:nvSpPr>
          <p:cNvPr id="6" name="Shape 4"/>
          <p:cNvSpPr/>
          <p:nvPr/>
        </p:nvSpPr>
        <p:spPr>
          <a:xfrm>
            <a:off x="566928" y="2724912"/>
            <a:ext cx="5852160" cy="2286000"/>
          </a:xfrm>
          <a:prstGeom prst="rect">
            <a:avLst/>
          </a:prstGeom>
          <a:solidFill>
            <a:srgbClr val="3A3A46"/>
          </a:solidFill>
          <a:ln w="12700">
            <a:solidFill>
              <a:srgbClr val="50505C"/>
            </a:solidFill>
            <a:prstDash val="solid"/>
          </a:ln>
        </p:spPr>
      </p:sp>
      <p:sp>
        <p:nvSpPr>
          <p:cNvPr id="7" name="Shape 5"/>
          <p:cNvSpPr/>
          <p:nvPr/>
        </p:nvSpPr>
        <p:spPr>
          <a:xfrm>
            <a:off x="566928" y="2724912"/>
            <a:ext cx="54864" cy="2286000"/>
          </a:xfrm>
          <a:prstGeom prst="rect">
            <a:avLst/>
          </a:prstGeom>
          <a:solidFill>
            <a:srgbClr val="FFE600"/>
          </a:solidFill>
          <a:ln w="12700">
            <a:solidFill>
              <a:srgbClr val="333333"/>
            </a:solidFill>
            <a:prstDash val="solid"/>
          </a:ln>
        </p:spPr>
      </p:sp>
      <p:sp>
        <p:nvSpPr>
          <p:cNvPr id="8" name="Text 6"/>
          <p:cNvSpPr/>
          <p:nvPr/>
        </p:nvSpPr>
        <p:spPr>
          <a:xfrm>
            <a:off x="896112" y="2962656"/>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What you type</a:t>
            </a:r>
            <a:endParaRPr lang="en-US" sz="1500" dirty="0"/>
          </a:p>
        </p:txBody>
      </p:sp>
      <p:sp>
        <p:nvSpPr>
          <p:cNvPr id="9" name="Text 7"/>
          <p:cNvSpPr/>
          <p:nvPr/>
        </p:nvSpPr>
        <p:spPr>
          <a:xfrm>
            <a:off x="896112" y="3364992"/>
            <a:ext cx="5303520" cy="32918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“How is my server doing right now?”</a:t>
            </a:r>
            <a:endParaRPr lang="en-US" sz="1350" dirty="0"/>
          </a:p>
        </p:txBody>
      </p:sp>
      <p:sp>
        <p:nvSpPr>
          <p:cNvPr id="10" name="Text 8"/>
          <p:cNvSpPr/>
          <p:nvPr/>
        </p:nvSpPr>
        <p:spPr>
          <a:xfrm>
            <a:off x="896112" y="3785616"/>
            <a:ext cx="5303520" cy="32918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“Something went wrong last night”</a:t>
            </a:r>
            <a:endParaRPr lang="en-US" sz="1350" dirty="0"/>
          </a:p>
        </p:txBody>
      </p:sp>
      <p:sp>
        <p:nvSpPr>
          <p:cNvPr id="11" name="Text 9"/>
          <p:cNvSpPr/>
          <p:nvPr/>
        </p:nvSpPr>
        <p:spPr>
          <a:xfrm>
            <a:off x="896112" y="4206240"/>
            <a:ext cx="5303520" cy="329184"/>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“I'm running out of space”</a:t>
            </a:r>
            <a:endParaRPr lang="en-US" sz="1350" dirty="0"/>
          </a:p>
        </p:txBody>
      </p:sp>
      <p:sp>
        <p:nvSpPr>
          <p:cNvPr id="12" name="Text 10"/>
          <p:cNvSpPr/>
          <p:nvPr/>
        </p:nvSpPr>
        <p:spPr>
          <a:xfrm>
            <a:off x="896112" y="4626864"/>
            <a:ext cx="5303520" cy="27432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Not one of those names an agent. That is the point.</a:t>
            </a:r>
            <a:endParaRPr lang="en-US" sz="1150" dirty="0"/>
          </a:p>
        </p:txBody>
      </p:sp>
      <p:pic>
        <p:nvPicPr>
          <p:cNvPr id="13" name="Image 0" descr="preencoded.png">    </p:cNvPr>
          <p:cNvPicPr>
            <a:picLocks noChangeAspect="1"/>
          </p:cNvPicPr>
          <p:nvPr/>
        </p:nvPicPr>
        <p:blipFill>
          <a:blip r:embed="rId1"/>
          <a:stretch>
            <a:fillRect/>
          </a:stretch>
        </p:blipFill>
        <p:spPr>
          <a:xfrm>
            <a:off x="6675120" y="2048256"/>
            <a:ext cx="4937760" cy="2178424"/>
          </a:xfrm>
          <a:prstGeom prst="rect">
            <a:avLst/>
          </a:prstGeom>
        </p:spPr>
      </p:pic>
      <p:sp>
        <p:nvSpPr>
          <p:cNvPr id="14" name="Shape 11"/>
          <p:cNvSpPr/>
          <p:nvPr/>
        </p:nvSpPr>
        <p:spPr>
          <a:xfrm>
            <a:off x="6675120" y="2048256"/>
            <a:ext cx="4937760" cy="2178424"/>
          </a:xfrm>
          <a:prstGeom prst="rect">
            <a:avLst/>
          </a:prstGeom>
          <a:ln w="12700">
            <a:solidFill>
              <a:srgbClr val="50505C"/>
            </a:solidFill>
            <a:prstDash val="solid"/>
          </a:ln>
        </p:spPr>
      </p:sp>
      <p:sp>
        <p:nvSpPr>
          <p:cNvPr id="15" name="Shape 12"/>
          <p:cNvSpPr/>
          <p:nvPr/>
        </p:nvSpPr>
        <p:spPr>
          <a:xfrm>
            <a:off x="6675120" y="4480560"/>
            <a:ext cx="4773168" cy="1463040"/>
          </a:xfrm>
          <a:prstGeom prst="rect">
            <a:avLst/>
          </a:prstGeom>
          <a:solidFill>
            <a:srgbClr val="3A3A46"/>
          </a:solidFill>
          <a:ln w="12700">
            <a:solidFill>
              <a:srgbClr val="50505C"/>
            </a:solidFill>
            <a:prstDash val="solid"/>
          </a:ln>
        </p:spPr>
      </p:sp>
      <p:sp>
        <p:nvSpPr>
          <p:cNvPr id="16" name="Text 13"/>
          <p:cNvSpPr/>
          <p:nvPr/>
        </p:nvSpPr>
        <p:spPr>
          <a:xfrm>
            <a:off x="6949440" y="4700016"/>
            <a:ext cx="420624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And if it does not fit?</a:t>
            </a:r>
            <a:endParaRPr lang="en-US" sz="1350" dirty="0"/>
          </a:p>
        </p:txBody>
      </p:sp>
      <p:sp>
        <p:nvSpPr>
          <p:cNvPr id="17" name="Text 14"/>
          <p:cNvSpPr/>
          <p:nvPr/>
        </p:nvSpPr>
        <p:spPr>
          <a:xfrm>
            <a:off x="6949440" y="5029200"/>
            <a:ext cx="4206240" cy="73152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It says so, rather than forcing a wrong answer to look confident. A system with no way to say “I don't know” will always guess.</a:t>
            </a:r>
            <a:endParaRPr lang="en-US" sz="1100" dirty="0"/>
          </a:p>
        </p:txBody>
      </p:sp>
      <p:sp>
        <p:nvSpPr>
          <p:cNvPr id="18" name="Text 15"/>
          <p:cNvSpPr/>
          <p:nvPr/>
        </p:nvSpPr>
        <p:spPr>
          <a:xfrm>
            <a:off x="566928" y="6254496"/>
            <a:ext cx="1517904" cy="201168"/>
          </a:xfrm>
          <a:prstGeom prst="rect">
            <a:avLst/>
          </a:prstGeom>
          <a:noFill/>
          <a:ln/>
        </p:spPr>
        <p:txBody>
          <a:bodyPr wrap="square" lIns="0" tIns="0" rIns="0" bIns="0" rtlCol="0" anchor="ctr"/>
          <a:lstStyle/>
          <a:p>
            <a:pPr indent="0" marL="0">
              <a:buNone/>
            </a:pPr>
            <a:r>
              <a:rPr lang="en-US" sz="850" b="1" spc="160" kern="0" dirty="0">
                <a:solidFill>
                  <a:srgbClr val="FFE600"/>
                </a:solidFill>
                <a:latin typeface="Arial" pitchFamily="34" charset="0"/>
                <a:ea typeface="Arial" pitchFamily="34" charset="-122"/>
                <a:cs typeface="Arial" pitchFamily="34" charset="-120"/>
              </a:rPr>
              <a:t>UNDER THE HOOD</a:t>
            </a:r>
            <a:endParaRPr lang="en-US" sz="850" dirty="0"/>
          </a:p>
        </p:txBody>
      </p:sp>
      <p:sp>
        <p:nvSpPr>
          <p:cNvPr id="19" name="Text 16"/>
          <p:cNvSpPr/>
          <p:nvPr/>
        </p:nvSpPr>
        <p:spPr>
          <a:xfrm>
            <a:off x="2139696" y="6254496"/>
            <a:ext cx="9308592" cy="310896"/>
          </a:xfrm>
          <a:prstGeom prst="rect">
            <a:avLst/>
          </a:prstGeom>
          <a:noFill/>
          <a:ln/>
        </p:spPr>
        <p:txBody>
          <a:bodyPr wrap="square" lIns="0" tIns="0" rIns="0" bIns="0" rtlCol="0" anchor="ctr"/>
          <a:lstStyle/>
          <a:p>
            <a:pPr indent="0" marL="0">
              <a:lnSpc>
                <a:spcPts val="1300"/>
              </a:lnSpc>
              <a:buNone/>
            </a:pPr>
            <a:r>
              <a:rPr lang="en-US" sz="1000" dirty="0">
                <a:solidFill>
                  <a:srgbClr val="8B8B98"/>
                </a:solidFill>
                <a:latin typeface="Arial" pitchFamily="34" charset="0"/>
                <a:ea typeface="Arial" pitchFamily="34" charset="-122"/>
                <a:cs typeface="Arial" pitchFamily="34" charset="-120"/>
              </a:rPr>
              <a:t>One model call classifies the request into one of four routes, then a state machine hands it to that agent.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AUTO-REMEDIATION</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It does not just tell you. It fixes — then checks it worked.</a:t>
            </a:r>
            <a:endParaRPr lang="en-US" sz="3000" dirty="0"/>
          </a:p>
        </p:txBody>
      </p:sp>
      <p:sp>
        <p:nvSpPr>
          <p:cNvPr id="5" name="Text 3"/>
          <p:cNvSpPr/>
          <p:nvPr/>
        </p:nvSpPr>
        <p:spPr>
          <a:xfrm>
            <a:off x="566928" y="1737360"/>
            <a:ext cx="5943600" cy="822960"/>
          </a:xfrm>
          <a:prstGeom prst="rect">
            <a:avLst/>
          </a:prstGeom>
          <a:noFill/>
          <a:ln/>
        </p:spPr>
        <p:txBody>
          <a:bodyPr wrap="square" lIns="0" tIns="0" rIns="0" bIns="0" rtlCol="0" anchor="ctr"/>
          <a:lstStyle/>
          <a:p>
            <a:pPr indent="0" marL="0">
              <a:lnSpc>
                <a:spcPts val="2093"/>
              </a:lnSpc>
              <a:buNone/>
            </a:pPr>
            <a:r>
              <a:rPr lang="en-US" sz="1350" dirty="0">
                <a:solidFill>
                  <a:srgbClr val="C4C4CD"/>
                </a:solidFill>
                <a:latin typeface="Arial" pitchFamily="34" charset="0"/>
                <a:ea typeface="Arial" pitchFamily="34" charset="-122"/>
                <a:cs typeface="Arial" pitchFamily="34" charset="-120"/>
              </a:rPr>
              <a:t>This is the part almost nobody else does. Most tools in this space stop at the diagnosis and hand you back the problem. Ours takes the next step, on the one kind of problem where the next step is safe to take.</a:t>
            </a:r>
            <a:endParaRPr lang="en-US" sz="1350" dirty="0"/>
          </a:p>
        </p:txBody>
      </p:sp>
      <p:pic>
        <p:nvPicPr>
          <p:cNvPr id="6" name="Image 0" descr="preencoded.png">    </p:cNvPr>
          <p:cNvPicPr>
            <a:picLocks noChangeAspect="1"/>
          </p:cNvPicPr>
          <p:nvPr/>
        </p:nvPicPr>
        <p:blipFill>
          <a:blip r:embed="rId1"/>
          <a:stretch>
            <a:fillRect/>
          </a:stretch>
        </p:blipFill>
        <p:spPr>
          <a:xfrm>
            <a:off x="566928" y="2743200"/>
            <a:ext cx="5943600" cy="3037840"/>
          </a:xfrm>
          <a:prstGeom prst="rect">
            <a:avLst/>
          </a:prstGeom>
        </p:spPr>
      </p:pic>
      <p:sp>
        <p:nvSpPr>
          <p:cNvPr id="7" name="Shape 4"/>
          <p:cNvSpPr/>
          <p:nvPr/>
        </p:nvSpPr>
        <p:spPr>
          <a:xfrm>
            <a:off x="566928" y="2743200"/>
            <a:ext cx="5943600" cy="3037840"/>
          </a:xfrm>
          <a:prstGeom prst="rect">
            <a:avLst/>
          </a:prstGeom>
          <a:ln w="12700">
            <a:solidFill>
              <a:srgbClr val="50505C"/>
            </a:solidFill>
            <a:prstDash val="solid"/>
          </a:ln>
        </p:spPr>
      </p:sp>
      <p:sp>
        <p:nvSpPr>
          <p:cNvPr id="8" name="Text 5"/>
          <p:cNvSpPr/>
          <p:nvPr/>
        </p:nvSpPr>
        <p:spPr>
          <a:xfrm>
            <a:off x="6858000" y="1792224"/>
            <a:ext cx="457200" cy="365760"/>
          </a:xfrm>
          <a:prstGeom prst="rect">
            <a:avLst/>
          </a:prstGeom>
          <a:noFill/>
          <a:ln/>
        </p:spPr>
        <p:txBody>
          <a:bodyPr wrap="square" lIns="0" tIns="0" rIns="0" bIns="0" rtlCol="0" anchor="ctr"/>
          <a:lstStyle/>
          <a:p>
            <a:pPr indent="0" marL="0">
              <a:buNone/>
            </a:pPr>
            <a:r>
              <a:rPr lang="en-US" sz="2000" b="1" dirty="0">
                <a:solidFill>
                  <a:srgbClr val="FFE600"/>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7406640" y="1828800"/>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Read the evidence</a:t>
            </a:r>
            <a:endParaRPr lang="en-US" sz="1400" dirty="0"/>
          </a:p>
        </p:txBody>
      </p:sp>
      <p:sp>
        <p:nvSpPr>
          <p:cNvPr id="10" name="Text 7"/>
          <p:cNvSpPr/>
          <p:nvPr/>
        </p:nvSpPr>
        <p:spPr>
          <a:xfrm>
            <a:off x="7406640" y="2121408"/>
            <a:ext cx="4023360" cy="6858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The log reader goes through the machine's records and writes down what it found.</a:t>
            </a:r>
            <a:endParaRPr lang="en-US" sz="1100" dirty="0"/>
          </a:p>
        </p:txBody>
      </p:sp>
      <p:sp>
        <p:nvSpPr>
          <p:cNvPr id="11" name="Text 8"/>
          <p:cNvSpPr/>
          <p:nvPr/>
        </p:nvSpPr>
        <p:spPr>
          <a:xfrm>
            <a:off x="6858000" y="2907792"/>
            <a:ext cx="457200" cy="365760"/>
          </a:xfrm>
          <a:prstGeom prst="rect">
            <a:avLst/>
          </a:prstGeom>
          <a:noFill/>
          <a:ln/>
        </p:spPr>
        <p:txBody>
          <a:bodyPr wrap="square" lIns="0" tIns="0" rIns="0" bIns="0" rtlCol="0" anchor="ctr"/>
          <a:lstStyle/>
          <a:p>
            <a:pPr indent="0" marL="0">
              <a:buNone/>
            </a:pPr>
            <a:r>
              <a:rPr lang="en-US" sz="2000" b="1" dirty="0">
                <a:solidFill>
                  <a:srgbClr val="FFE600"/>
                </a:solidFill>
                <a:latin typeface="Arial" pitchFamily="34" charset="0"/>
                <a:ea typeface="Arial" pitchFamily="34" charset="-122"/>
                <a:cs typeface="Arial" pitchFamily="34" charset="-120"/>
              </a:rPr>
              <a:t>2</a:t>
            </a:r>
            <a:endParaRPr lang="en-US" sz="2000" dirty="0"/>
          </a:p>
        </p:txBody>
      </p:sp>
      <p:sp>
        <p:nvSpPr>
          <p:cNvPr id="12" name="Text 9"/>
          <p:cNvSpPr/>
          <p:nvPr/>
        </p:nvSpPr>
        <p:spPr>
          <a:xfrm>
            <a:off x="7406640" y="2944368"/>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Decide if action is needed</a:t>
            </a:r>
            <a:endParaRPr lang="en-US" sz="1400" dirty="0"/>
          </a:p>
        </p:txBody>
      </p:sp>
      <p:sp>
        <p:nvSpPr>
          <p:cNvPr id="13" name="Text 10"/>
          <p:cNvSpPr/>
          <p:nvPr/>
        </p:nvSpPr>
        <p:spPr>
          <a:xfrm>
            <a:off x="7406640" y="3236976"/>
            <a:ext cx="4023360" cy="6858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If nothing needs fixing, it skips straight to the end rather than doing something for the sake of it.</a:t>
            </a:r>
            <a:endParaRPr lang="en-US" sz="1100" dirty="0"/>
          </a:p>
        </p:txBody>
      </p:sp>
      <p:sp>
        <p:nvSpPr>
          <p:cNvPr id="14" name="Text 11"/>
          <p:cNvSpPr/>
          <p:nvPr/>
        </p:nvSpPr>
        <p:spPr>
          <a:xfrm>
            <a:off x="6858000" y="4023360"/>
            <a:ext cx="457200" cy="365760"/>
          </a:xfrm>
          <a:prstGeom prst="rect">
            <a:avLst/>
          </a:prstGeom>
          <a:noFill/>
          <a:ln/>
        </p:spPr>
        <p:txBody>
          <a:bodyPr wrap="square" lIns="0" tIns="0" rIns="0" bIns="0" rtlCol="0" anchor="ctr"/>
          <a:lstStyle/>
          <a:p>
            <a:pPr indent="0" marL="0">
              <a:buNone/>
            </a:pPr>
            <a:r>
              <a:rPr lang="en-US" sz="2000" b="1" dirty="0">
                <a:solidFill>
                  <a:srgbClr val="FFE600"/>
                </a:solidFill>
                <a:latin typeface="Arial" pitchFamily="34" charset="0"/>
                <a:ea typeface="Arial" pitchFamily="34" charset="-122"/>
                <a:cs typeface="Arial" pitchFamily="34" charset="-120"/>
              </a:rPr>
              <a:t>3</a:t>
            </a:r>
            <a:endParaRPr lang="en-US" sz="2000" dirty="0"/>
          </a:p>
        </p:txBody>
      </p:sp>
      <p:sp>
        <p:nvSpPr>
          <p:cNvPr id="15" name="Text 12"/>
          <p:cNvSpPr/>
          <p:nvPr/>
        </p:nvSpPr>
        <p:spPr>
          <a:xfrm>
            <a:off x="7406640" y="4059936"/>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Act</a:t>
            </a:r>
            <a:endParaRPr lang="en-US" sz="1400" dirty="0"/>
          </a:p>
        </p:txBody>
      </p:sp>
      <p:sp>
        <p:nvSpPr>
          <p:cNvPr id="16" name="Text 13"/>
          <p:cNvSpPr/>
          <p:nvPr/>
        </p:nvSpPr>
        <p:spPr>
          <a:xfrm>
            <a:off x="7406640" y="4352544"/>
            <a:ext cx="4023360" cy="6858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Take the backup, verify it is intact, report the recovery position.</a:t>
            </a:r>
            <a:endParaRPr lang="en-US" sz="1100" dirty="0"/>
          </a:p>
        </p:txBody>
      </p:sp>
      <p:sp>
        <p:nvSpPr>
          <p:cNvPr id="17" name="Text 14"/>
          <p:cNvSpPr/>
          <p:nvPr/>
        </p:nvSpPr>
        <p:spPr>
          <a:xfrm>
            <a:off x="6858000" y="5138928"/>
            <a:ext cx="457200" cy="365760"/>
          </a:xfrm>
          <a:prstGeom prst="rect">
            <a:avLst/>
          </a:prstGeom>
          <a:noFill/>
          <a:ln/>
        </p:spPr>
        <p:txBody>
          <a:bodyPr wrap="square" lIns="0" tIns="0" rIns="0" bIns="0" rtlCol="0" anchor="ctr"/>
          <a:lstStyle/>
          <a:p>
            <a:pPr indent="0" marL="0">
              <a:buNone/>
            </a:pPr>
            <a:r>
              <a:rPr lang="en-US" sz="2000" b="1" dirty="0">
                <a:solidFill>
                  <a:srgbClr val="FFE600"/>
                </a:solidFill>
                <a:latin typeface="Arial" pitchFamily="34" charset="0"/>
                <a:ea typeface="Arial" pitchFamily="34" charset="-122"/>
                <a:cs typeface="Arial" pitchFamily="34" charset="-120"/>
              </a:rPr>
              <a:t>4</a:t>
            </a:r>
            <a:endParaRPr lang="en-US" sz="2000" dirty="0"/>
          </a:p>
        </p:txBody>
      </p:sp>
      <p:sp>
        <p:nvSpPr>
          <p:cNvPr id="18" name="Text 15"/>
          <p:cNvSpPr/>
          <p:nvPr/>
        </p:nvSpPr>
        <p:spPr>
          <a:xfrm>
            <a:off x="7406640" y="5175504"/>
            <a:ext cx="402336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Check the work</a:t>
            </a:r>
            <a:endParaRPr lang="en-US" sz="1400" dirty="0"/>
          </a:p>
        </p:txBody>
      </p:sp>
      <p:sp>
        <p:nvSpPr>
          <p:cNvPr id="19" name="Text 16"/>
          <p:cNvSpPr/>
          <p:nvPr/>
        </p:nvSpPr>
        <p:spPr>
          <a:xfrm>
            <a:off x="7406640" y="5468112"/>
            <a:ext cx="4023360" cy="6858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A supervisor reads everything back and states plainly whether the issue is actually resolved.</a:t>
            </a:r>
            <a:endParaRPr lang="en-US" sz="1100" dirty="0"/>
          </a:p>
        </p:txBody>
      </p:sp>
      <p:sp>
        <p:nvSpPr>
          <p:cNvPr id="20" name="Text 17"/>
          <p:cNvSpPr/>
          <p:nvPr/>
        </p:nvSpPr>
        <p:spPr>
          <a:xfrm>
            <a:off x="6858000" y="6309360"/>
            <a:ext cx="4937760" cy="274320"/>
          </a:xfrm>
          <a:prstGeom prst="rect">
            <a:avLst/>
          </a:prstGeom>
          <a:noFill/>
          <a:ln/>
        </p:spPr>
        <p:txBody>
          <a:bodyPr wrap="square" lIns="0" tIns="0" rIns="0" bIns="0" rtlCol="0" anchor="ctr"/>
          <a:lstStyle/>
          <a:p>
            <a:pPr indent="0" marL="0">
              <a:buNone/>
            </a:pPr>
            <a:r>
              <a:rPr lang="en-US" sz="1250" b="1" dirty="0">
                <a:solidFill>
                  <a:srgbClr val="FFE600"/>
                </a:solidFill>
                <a:latin typeface="Arial" pitchFamily="34" charset="0"/>
                <a:ea typeface="Arial" pitchFamily="34" charset="-122"/>
                <a:cs typeface="Arial" pitchFamily="34" charset="-120"/>
              </a:rPr>
              <a:t>Step 4 is the one to remember: it checks its own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TRUST</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You can see every single thing it did</a:t>
            </a:r>
            <a:endParaRPr lang="en-US" sz="3000" dirty="0"/>
          </a:p>
        </p:txBody>
      </p:sp>
      <p:sp>
        <p:nvSpPr>
          <p:cNvPr id="5" name="Text 3"/>
          <p:cNvSpPr/>
          <p:nvPr/>
        </p:nvSpPr>
        <p:spPr>
          <a:xfrm>
            <a:off x="566928" y="1700784"/>
            <a:ext cx="5943600" cy="822960"/>
          </a:xfrm>
          <a:prstGeom prst="rect">
            <a:avLst/>
          </a:prstGeom>
          <a:noFill/>
          <a:ln/>
        </p:spPr>
        <p:txBody>
          <a:bodyPr wrap="square" lIns="0" tIns="0" rIns="0" bIns="0" rtlCol="0" anchor="ctr"/>
          <a:lstStyle/>
          <a:p>
            <a:pPr indent="0" marL="0">
              <a:lnSpc>
                <a:spcPts val="2093"/>
              </a:lnSpc>
              <a:buNone/>
            </a:pPr>
            <a:r>
              <a:rPr lang="en-US" sz="1350" dirty="0">
                <a:solidFill>
                  <a:srgbClr val="C4C4CD"/>
                </a:solidFill>
                <a:latin typeface="Arial" pitchFamily="34" charset="0"/>
                <a:ea typeface="Arial" pitchFamily="34" charset="-122"/>
                <a:cs typeface="Arial" pitchFamily="34" charset="-120"/>
              </a:rPr>
              <a:t>The obvious objection to letting software touch your servers is “how do I know what it actually did?” So nothing is hidden: every check it ran, in order, with what came back, and the reasoning that followed.</a:t>
            </a:r>
            <a:endParaRPr lang="en-US" sz="1350" dirty="0"/>
          </a:p>
        </p:txBody>
      </p:sp>
      <p:pic>
        <p:nvPicPr>
          <p:cNvPr id="6" name="Image 0" descr="preencoded.png">    </p:cNvPr>
          <p:cNvPicPr>
            <a:picLocks noChangeAspect="1"/>
          </p:cNvPicPr>
          <p:nvPr/>
        </p:nvPicPr>
        <p:blipFill>
          <a:blip r:embed="rId1"/>
          <a:stretch>
            <a:fillRect/>
          </a:stretch>
        </p:blipFill>
        <p:spPr>
          <a:xfrm>
            <a:off x="566928" y="2688336"/>
            <a:ext cx="2926080" cy="2955636"/>
          </a:xfrm>
          <a:prstGeom prst="rect">
            <a:avLst/>
          </a:prstGeom>
        </p:spPr>
      </p:pic>
      <p:sp>
        <p:nvSpPr>
          <p:cNvPr id="7" name="Shape 4"/>
          <p:cNvSpPr/>
          <p:nvPr/>
        </p:nvSpPr>
        <p:spPr>
          <a:xfrm>
            <a:off x="566928" y="2688336"/>
            <a:ext cx="2926080" cy="2955636"/>
          </a:xfrm>
          <a:prstGeom prst="rect">
            <a:avLst/>
          </a:prstGeom>
          <a:ln w="12700">
            <a:solidFill>
              <a:srgbClr val="50505C"/>
            </a:solidFill>
            <a:prstDash val="solid"/>
          </a:ln>
        </p:spPr>
      </p:sp>
      <p:sp>
        <p:nvSpPr>
          <p:cNvPr id="8" name="Shape 5"/>
          <p:cNvSpPr/>
          <p:nvPr/>
        </p:nvSpPr>
        <p:spPr>
          <a:xfrm>
            <a:off x="3931920" y="2688336"/>
            <a:ext cx="45720" cy="786384"/>
          </a:xfrm>
          <a:prstGeom prst="rect">
            <a:avLst/>
          </a:prstGeom>
          <a:solidFill>
            <a:srgbClr val="FFE600"/>
          </a:solidFill>
          <a:ln w="12700">
            <a:solidFill>
              <a:srgbClr val="333333"/>
            </a:solidFill>
            <a:prstDash val="solid"/>
          </a:ln>
        </p:spPr>
      </p:sp>
      <p:sp>
        <p:nvSpPr>
          <p:cNvPr id="9" name="Text 6"/>
          <p:cNvSpPr/>
          <p:nvPr/>
        </p:nvSpPr>
        <p:spPr>
          <a:xfrm>
            <a:off x="4206240" y="2706624"/>
            <a:ext cx="310896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Every step is shown</a:t>
            </a:r>
            <a:endParaRPr lang="en-US" sz="1300" dirty="0"/>
          </a:p>
        </p:txBody>
      </p:sp>
      <p:sp>
        <p:nvSpPr>
          <p:cNvPr id="10" name="Text 7"/>
          <p:cNvSpPr/>
          <p:nvPr/>
        </p:nvSpPr>
        <p:spPr>
          <a:xfrm>
            <a:off x="4206240" y="2999232"/>
            <a:ext cx="3291840" cy="4572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Not a summary of what it did — the actual record of what it did.</a:t>
            </a:r>
            <a:endParaRPr lang="en-US" sz="1100" dirty="0"/>
          </a:p>
        </p:txBody>
      </p:sp>
      <p:sp>
        <p:nvSpPr>
          <p:cNvPr id="11" name="Shape 8"/>
          <p:cNvSpPr/>
          <p:nvPr/>
        </p:nvSpPr>
        <p:spPr>
          <a:xfrm>
            <a:off x="3931920" y="3657600"/>
            <a:ext cx="45720" cy="786384"/>
          </a:xfrm>
          <a:prstGeom prst="rect">
            <a:avLst/>
          </a:prstGeom>
          <a:solidFill>
            <a:srgbClr val="FFE600"/>
          </a:solidFill>
          <a:ln w="12700">
            <a:solidFill>
              <a:srgbClr val="333333"/>
            </a:solidFill>
            <a:prstDash val="solid"/>
          </a:ln>
        </p:spPr>
      </p:sp>
      <p:sp>
        <p:nvSpPr>
          <p:cNvPr id="12" name="Text 9"/>
          <p:cNvSpPr/>
          <p:nvPr/>
        </p:nvSpPr>
        <p:spPr>
          <a:xfrm>
            <a:off x="4206240" y="3675888"/>
            <a:ext cx="310896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The plan is stated first</a:t>
            </a:r>
            <a:endParaRPr lang="en-US" sz="1300" dirty="0"/>
          </a:p>
        </p:txBody>
      </p:sp>
      <p:sp>
        <p:nvSpPr>
          <p:cNvPr id="13" name="Text 10"/>
          <p:cNvSpPr/>
          <p:nvPr/>
        </p:nvSpPr>
        <p:spPr>
          <a:xfrm>
            <a:off x="4206240" y="3968496"/>
            <a:ext cx="3291840" cy="4572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Before it runs anything, it tells you what it intends to check.</a:t>
            </a:r>
            <a:endParaRPr lang="en-US" sz="1100" dirty="0"/>
          </a:p>
        </p:txBody>
      </p:sp>
      <p:sp>
        <p:nvSpPr>
          <p:cNvPr id="14" name="Shape 11"/>
          <p:cNvSpPr/>
          <p:nvPr/>
        </p:nvSpPr>
        <p:spPr>
          <a:xfrm>
            <a:off x="3931920" y="4626864"/>
            <a:ext cx="45720" cy="786384"/>
          </a:xfrm>
          <a:prstGeom prst="rect">
            <a:avLst/>
          </a:prstGeom>
          <a:solidFill>
            <a:srgbClr val="FFE600"/>
          </a:solidFill>
          <a:ln w="12700">
            <a:solidFill>
              <a:srgbClr val="333333"/>
            </a:solidFill>
            <a:prstDash val="solid"/>
          </a:ln>
        </p:spPr>
      </p:sp>
      <p:sp>
        <p:nvSpPr>
          <p:cNvPr id="15" name="Text 12"/>
          <p:cNvSpPr/>
          <p:nvPr/>
        </p:nvSpPr>
        <p:spPr>
          <a:xfrm>
            <a:off x="4206240" y="4645152"/>
            <a:ext cx="310896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The verdict is one word</a:t>
            </a:r>
            <a:endParaRPr lang="en-US" sz="1300" dirty="0"/>
          </a:p>
        </p:txBody>
      </p:sp>
      <p:sp>
        <p:nvSpPr>
          <p:cNvPr id="16" name="Text 13"/>
          <p:cNvSpPr/>
          <p:nvPr/>
        </p:nvSpPr>
        <p:spPr>
          <a:xfrm>
            <a:off x="4206240" y="4937760"/>
            <a:ext cx="3291840" cy="4572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Healthy, warning, or critical. No hedging, and it is colour-coded.</a:t>
            </a:r>
            <a:endParaRPr lang="en-US" sz="1100" dirty="0"/>
          </a:p>
        </p:txBody>
      </p:sp>
      <p:sp>
        <p:nvSpPr>
          <p:cNvPr id="17" name="Shape 14"/>
          <p:cNvSpPr/>
          <p:nvPr/>
        </p:nvSpPr>
        <p:spPr>
          <a:xfrm>
            <a:off x="3931920" y="5596128"/>
            <a:ext cx="45720" cy="786384"/>
          </a:xfrm>
          <a:prstGeom prst="rect">
            <a:avLst/>
          </a:prstGeom>
          <a:solidFill>
            <a:srgbClr val="FFE600"/>
          </a:solidFill>
          <a:ln w="12700">
            <a:solidFill>
              <a:srgbClr val="333333"/>
            </a:solidFill>
            <a:prstDash val="solid"/>
          </a:ln>
        </p:spPr>
      </p:sp>
      <p:sp>
        <p:nvSpPr>
          <p:cNvPr id="18" name="Text 15"/>
          <p:cNvSpPr/>
          <p:nvPr/>
        </p:nvSpPr>
        <p:spPr>
          <a:xfrm>
            <a:off x="4206240" y="5614416"/>
            <a:ext cx="310896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It admits failure</a:t>
            </a:r>
            <a:endParaRPr lang="en-US" sz="1300" dirty="0"/>
          </a:p>
        </p:txBody>
      </p:sp>
      <p:sp>
        <p:nvSpPr>
          <p:cNvPr id="19" name="Text 16"/>
          <p:cNvSpPr/>
          <p:nvPr/>
        </p:nvSpPr>
        <p:spPr>
          <a:xfrm>
            <a:off x="4206240" y="5907024"/>
            <a:ext cx="3291840" cy="45720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If a run breaks halfway, it says so instead of reporting a partial answer as success.</a:t>
            </a:r>
            <a:endParaRPr lang="en-US" sz="1100" dirty="0"/>
          </a:p>
        </p:txBody>
      </p:sp>
      <p:pic>
        <p:nvPicPr>
          <p:cNvPr id="20" name="Image 1" descr="preencoded.png">    </p:cNvPr>
          <p:cNvPicPr>
            <a:picLocks noChangeAspect="1"/>
          </p:cNvPicPr>
          <p:nvPr/>
        </p:nvPicPr>
        <p:blipFill>
          <a:blip r:embed="rId2"/>
          <a:stretch>
            <a:fillRect/>
          </a:stretch>
        </p:blipFill>
        <p:spPr>
          <a:xfrm>
            <a:off x="7772400" y="2688336"/>
            <a:ext cx="3840480" cy="1280160"/>
          </a:xfrm>
          <a:prstGeom prst="rect">
            <a:avLst/>
          </a:prstGeom>
        </p:spPr>
      </p:pic>
      <p:sp>
        <p:nvSpPr>
          <p:cNvPr id="21" name="Shape 17"/>
          <p:cNvSpPr/>
          <p:nvPr/>
        </p:nvSpPr>
        <p:spPr>
          <a:xfrm>
            <a:off x="7772400" y="2688336"/>
            <a:ext cx="3840480" cy="1280160"/>
          </a:xfrm>
          <a:prstGeom prst="rect">
            <a:avLst/>
          </a:prstGeom>
          <a:ln w="12700">
            <a:solidFill>
              <a:srgbClr val="50505C"/>
            </a:solidFill>
            <a:prstDash val="solid"/>
          </a:ln>
        </p:spPr>
      </p:sp>
      <p:sp>
        <p:nvSpPr>
          <p:cNvPr id="22" name="Text 18"/>
          <p:cNvSpPr/>
          <p:nvPr/>
        </p:nvSpPr>
        <p:spPr>
          <a:xfrm>
            <a:off x="7772400" y="4023360"/>
            <a:ext cx="3840480" cy="457200"/>
          </a:xfrm>
          <a:prstGeom prst="rect">
            <a:avLst/>
          </a:prstGeom>
          <a:noFill/>
          <a:ln/>
        </p:spPr>
        <p:txBody>
          <a:bodyPr wrap="square" lIns="0" tIns="0" rIns="0" bIns="0" rtlCol="0" anchor="ctr"/>
          <a:lstStyle/>
          <a:p>
            <a:pPr indent="0" marL="0">
              <a:lnSpc>
                <a:spcPts val="1628"/>
              </a:lnSpc>
              <a:buNone/>
            </a:pPr>
            <a:r>
              <a:rPr lang="en-US" sz="1050" dirty="0">
                <a:solidFill>
                  <a:srgbClr val="C4C4CD"/>
                </a:solidFill>
                <a:latin typeface="Arial" pitchFamily="34" charset="0"/>
                <a:ea typeface="Arial" pitchFamily="34" charset="-122"/>
                <a:cs typeface="Arial" pitchFamily="34" charset="-120"/>
              </a:rPr>
              <a:t>The chain, drawn live — each stage lights as the work reaches it.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HOW IT WORKS</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It chooses its own next step — inside a route we control</a:t>
            </a:r>
            <a:endParaRPr lang="en-US" sz="3000" dirty="0"/>
          </a:p>
        </p:txBody>
      </p:sp>
      <p:sp>
        <p:nvSpPr>
          <p:cNvPr id="5" name="Text 3"/>
          <p:cNvSpPr/>
          <p:nvPr/>
        </p:nvSpPr>
        <p:spPr>
          <a:xfrm>
            <a:off x="566928" y="1700784"/>
            <a:ext cx="10881360" cy="365760"/>
          </a:xfrm>
          <a:prstGeom prst="rect">
            <a:avLst/>
          </a:prstGeom>
          <a:noFill/>
          <a:ln/>
        </p:spPr>
        <p:txBody>
          <a:bodyPr wrap="square" lIns="0" tIns="0" rIns="0" bIns="0" rtlCol="0" anchor="ctr"/>
          <a:lstStyle/>
          <a:p>
            <a:pPr indent="0" marL="0">
              <a:lnSpc>
                <a:spcPts val="2170"/>
              </a:lnSpc>
              <a:buNone/>
            </a:pPr>
            <a:r>
              <a:rPr lang="en-US" sz="1400" dirty="0">
                <a:solidFill>
                  <a:srgbClr val="FFFFFF"/>
                </a:solidFill>
                <a:latin typeface="Arial" pitchFamily="34" charset="0"/>
                <a:ea typeface="Arial" pitchFamily="34" charset="-122"/>
                <a:cs typeface="Arial" pitchFamily="34" charset="-120"/>
              </a:rPr>
              <a:t>Two different things are happening, and keeping them apart is the whole design.</a:t>
            </a:r>
            <a:endParaRPr lang="en-US" sz="1400" dirty="0"/>
          </a:p>
        </p:txBody>
      </p:sp>
      <p:sp>
        <p:nvSpPr>
          <p:cNvPr id="6" name="Shape 4"/>
          <p:cNvSpPr/>
          <p:nvPr/>
        </p:nvSpPr>
        <p:spPr>
          <a:xfrm>
            <a:off x="566928" y="2212848"/>
            <a:ext cx="5349240" cy="2377440"/>
          </a:xfrm>
          <a:prstGeom prst="rect">
            <a:avLst/>
          </a:prstGeom>
          <a:solidFill>
            <a:srgbClr val="3A3A46"/>
          </a:solidFill>
          <a:ln w="12700">
            <a:solidFill>
              <a:srgbClr val="50505C"/>
            </a:solidFill>
            <a:prstDash val="solid"/>
          </a:ln>
        </p:spPr>
      </p:sp>
      <p:sp>
        <p:nvSpPr>
          <p:cNvPr id="7" name="Text 5"/>
          <p:cNvSpPr/>
          <p:nvPr/>
        </p:nvSpPr>
        <p:spPr>
          <a:xfrm>
            <a:off x="859536" y="2450592"/>
            <a:ext cx="4572000" cy="237744"/>
          </a:xfrm>
          <a:prstGeom prst="rect">
            <a:avLst/>
          </a:prstGeom>
          <a:noFill/>
          <a:ln/>
        </p:spPr>
        <p:txBody>
          <a:bodyPr wrap="square" lIns="0" tIns="0" rIns="0" bIns="0" rtlCol="0" anchor="ctr"/>
          <a:lstStyle/>
          <a:p>
            <a:pPr indent="0" marL="0">
              <a:buNone/>
            </a:pPr>
            <a:r>
              <a:rPr lang="en-US" sz="1000" b="1" spc="180" kern="0" dirty="0">
                <a:solidFill>
                  <a:srgbClr val="8B8B98"/>
                </a:solidFill>
                <a:latin typeface="Arial" pitchFamily="34" charset="0"/>
                <a:ea typeface="Arial" pitchFamily="34" charset="-122"/>
                <a:cs typeface="Arial" pitchFamily="34" charset="-120"/>
              </a:rPr>
              <a:t>INSIDE ONE SPECIALIST</a:t>
            </a:r>
            <a:endParaRPr lang="en-US" sz="1000" dirty="0"/>
          </a:p>
        </p:txBody>
      </p:sp>
      <p:sp>
        <p:nvSpPr>
          <p:cNvPr id="8" name="Text 6"/>
          <p:cNvSpPr/>
          <p:nvPr/>
        </p:nvSpPr>
        <p:spPr>
          <a:xfrm>
            <a:off x="859536" y="2743200"/>
            <a:ext cx="4572000" cy="29260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assistant decides</a:t>
            </a:r>
            <a:endParaRPr lang="en-US" sz="1700" dirty="0"/>
          </a:p>
        </p:txBody>
      </p:sp>
      <p:sp>
        <p:nvSpPr>
          <p:cNvPr id="9" name="Text 7"/>
          <p:cNvSpPr/>
          <p:nvPr/>
        </p:nvSpPr>
        <p:spPr>
          <a:xfrm>
            <a:off x="859536" y="3163824"/>
            <a:ext cx="4754880" cy="1097280"/>
          </a:xfrm>
          <a:prstGeom prst="rect">
            <a:avLst/>
          </a:prstGeom>
          <a:noFill/>
          <a:ln/>
        </p:spPr>
        <p:txBody>
          <a:bodyPr wrap="square" lIns="0" tIns="0" rIns="0" bIns="0" rtlCol="0" anchor="ctr"/>
          <a:lstStyle/>
          <a:p>
            <a:pPr indent="0" marL="0">
              <a:lnSpc>
                <a:spcPts val="1860"/>
              </a:lnSpc>
              <a:buNone/>
            </a:pPr>
            <a:r>
              <a:rPr lang="en-US" sz="1200" dirty="0">
                <a:solidFill>
                  <a:srgbClr val="C4C4CD"/>
                </a:solidFill>
                <a:latin typeface="Arial" pitchFamily="34" charset="0"/>
                <a:ea typeface="Arial" pitchFamily="34" charset="-122"/>
                <a:cs typeface="Arial" pitchFamily="34" charset="-120"/>
              </a:rPr>
              <a:t>It asks for one check. Our code runs it and hands back the result. It reads that and decides what to look at next — exactly like a person troubleshooting. Nobody knows in advance how many steps it will take.</a:t>
            </a:r>
            <a:endParaRPr lang="en-US" sz="1200" dirty="0"/>
          </a:p>
        </p:txBody>
      </p:sp>
      <p:sp>
        <p:nvSpPr>
          <p:cNvPr id="10" name="Shape 8"/>
          <p:cNvSpPr/>
          <p:nvPr/>
        </p:nvSpPr>
        <p:spPr>
          <a:xfrm>
            <a:off x="6099048" y="2212848"/>
            <a:ext cx="5349240" cy="2377440"/>
          </a:xfrm>
          <a:prstGeom prst="rect">
            <a:avLst/>
          </a:prstGeom>
          <a:solidFill>
            <a:srgbClr val="3A3A46"/>
          </a:solidFill>
          <a:ln w="12700">
            <a:solidFill>
              <a:srgbClr val="50505C"/>
            </a:solidFill>
            <a:prstDash val="solid"/>
          </a:ln>
        </p:spPr>
      </p:sp>
      <p:sp>
        <p:nvSpPr>
          <p:cNvPr id="11" name="Shape 9"/>
          <p:cNvSpPr/>
          <p:nvPr/>
        </p:nvSpPr>
        <p:spPr>
          <a:xfrm>
            <a:off x="6099048" y="2212848"/>
            <a:ext cx="54864" cy="2377440"/>
          </a:xfrm>
          <a:prstGeom prst="rect">
            <a:avLst/>
          </a:prstGeom>
          <a:solidFill>
            <a:srgbClr val="FFE600"/>
          </a:solidFill>
          <a:ln w="12700">
            <a:solidFill>
              <a:srgbClr val="333333"/>
            </a:solidFill>
            <a:prstDash val="solid"/>
          </a:ln>
        </p:spPr>
      </p:sp>
      <p:sp>
        <p:nvSpPr>
          <p:cNvPr id="12" name="Text 10"/>
          <p:cNvSpPr/>
          <p:nvPr/>
        </p:nvSpPr>
        <p:spPr>
          <a:xfrm>
            <a:off x="6419088" y="2450592"/>
            <a:ext cx="4572000" cy="237744"/>
          </a:xfrm>
          <a:prstGeom prst="rect">
            <a:avLst/>
          </a:prstGeom>
          <a:noFill/>
          <a:ln/>
        </p:spPr>
        <p:txBody>
          <a:bodyPr wrap="square" lIns="0" tIns="0" rIns="0" bIns="0" rtlCol="0" anchor="ctr"/>
          <a:lstStyle/>
          <a:p>
            <a:pPr indent="0" marL="0">
              <a:buNone/>
            </a:pPr>
            <a:r>
              <a:rPr lang="en-US" sz="1000" b="1" spc="180" kern="0" dirty="0">
                <a:solidFill>
                  <a:srgbClr val="8B8B98"/>
                </a:solidFill>
                <a:latin typeface="Arial" pitchFamily="34" charset="0"/>
                <a:ea typeface="Arial" pitchFamily="34" charset="-122"/>
                <a:cs typeface="Arial" pitchFamily="34" charset="-120"/>
              </a:rPr>
              <a:t>BETWEEN THE SPECIALISTS</a:t>
            </a:r>
            <a:endParaRPr lang="en-US" sz="1000" dirty="0"/>
          </a:p>
        </p:txBody>
      </p:sp>
      <p:sp>
        <p:nvSpPr>
          <p:cNvPr id="13" name="Text 11"/>
          <p:cNvSpPr/>
          <p:nvPr/>
        </p:nvSpPr>
        <p:spPr>
          <a:xfrm>
            <a:off x="6419088" y="2743200"/>
            <a:ext cx="4572000" cy="29260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We decide</a:t>
            </a:r>
            <a:endParaRPr lang="en-US" sz="1700" dirty="0"/>
          </a:p>
        </p:txBody>
      </p:sp>
      <p:sp>
        <p:nvSpPr>
          <p:cNvPr id="14" name="Text 12"/>
          <p:cNvSpPr/>
          <p:nvPr/>
        </p:nvSpPr>
        <p:spPr>
          <a:xfrm>
            <a:off x="6419088" y="3163824"/>
            <a:ext cx="4754880" cy="1097280"/>
          </a:xfrm>
          <a:prstGeom prst="rect">
            <a:avLst/>
          </a:prstGeom>
          <a:noFill/>
          <a:ln/>
        </p:spPr>
        <p:txBody>
          <a:bodyPr wrap="square" lIns="0" tIns="0" rIns="0" bIns="0" rtlCol="0" anchor="ctr"/>
          <a:lstStyle/>
          <a:p>
            <a:pPr indent="0" marL="0">
              <a:lnSpc>
                <a:spcPts val="1860"/>
              </a:lnSpc>
              <a:buNone/>
            </a:pPr>
            <a:r>
              <a:rPr lang="en-US" sz="1200" dirty="0">
                <a:solidFill>
                  <a:srgbClr val="C4C4CD"/>
                </a:solidFill>
                <a:latin typeface="Arial" pitchFamily="34" charset="0"/>
                <a:ea typeface="Arial" pitchFamily="34" charset="-122"/>
                <a:cs typeface="Arial" pitchFamily="34" charset="-120"/>
              </a:rPr>
              <a:t>The order they work in is a fixed route we drew. It runs the same way every time and can be pointed at on a diagram. The specialists never talk to each other — they hand along a shared clipboard, in order.</a:t>
            </a:r>
            <a:endParaRPr lang="en-US" sz="1200" dirty="0"/>
          </a:p>
        </p:txBody>
      </p:sp>
      <p:sp>
        <p:nvSpPr>
          <p:cNvPr id="15" name="Shape 13"/>
          <p:cNvSpPr/>
          <p:nvPr/>
        </p:nvSpPr>
        <p:spPr>
          <a:xfrm>
            <a:off x="566928" y="4791456"/>
            <a:ext cx="10881360" cy="1243584"/>
          </a:xfrm>
          <a:prstGeom prst="rect">
            <a:avLst/>
          </a:prstGeom>
          <a:solidFill>
            <a:srgbClr val="3A3A46"/>
          </a:solidFill>
          <a:ln w="12700">
            <a:solidFill>
              <a:srgbClr val="50505C"/>
            </a:solidFill>
            <a:prstDash val="solid"/>
          </a:ln>
        </p:spPr>
      </p:sp>
      <p:sp>
        <p:nvSpPr>
          <p:cNvPr id="16" name="Text 14"/>
          <p:cNvSpPr/>
          <p:nvPr/>
        </p:nvSpPr>
        <p:spPr>
          <a:xfrm>
            <a:off x="896112" y="5010912"/>
            <a:ext cx="82296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Why not let them talk freely, the way some AI systems do?</a:t>
            </a:r>
            <a:endParaRPr lang="en-US" sz="1400" dirty="0"/>
          </a:p>
        </p:txBody>
      </p:sp>
      <p:sp>
        <p:nvSpPr>
          <p:cNvPr id="17" name="Text 15"/>
          <p:cNvSpPr/>
          <p:nvPr/>
        </p:nvSpPr>
        <p:spPr>
          <a:xfrm>
            <a:off x="896112" y="5321808"/>
            <a:ext cx="10241280" cy="548640"/>
          </a:xfrm>
          <a:prstGeom prst="rect">
            <a:avLst/>
          </a:prstGeom>
          <a:noFill/>
          <a:ln/>
        </p:spPr>
        <p:txBody>
          <a:bodyPr wrap="square" lIns="0" tIns="0" rIns="0" bIns="0" rtlCol="0" anchor="ctr"/>
          <a:lstStyle/>
          <a:p>
            <a:pPr indent="0" marL="0">
              <a:lnSpc>
                <a:spcPts val="1860"/>
              </a:lnSpc>
              <a:buNone/>
            </a:pPr>
            <a:r>
              <a:rPr lang="en-US" sz="1200" dirty="0">
                <a:solidFill>
                  <a:srgbClr val="C4C4CD"/>
                </a:solidFill>
                <a:latin typeface="Arial" pitchFamily="34" charset="0"/>
                <a:ea typeface="Arial" pitchFamily="34" charset="-122"/>
                <a:cs typeface="Arial" pitchFamily="34" charset="-120"/>
              </a:rPr>
              <a:t>Because that is unpredictable, hard to debug, and can run in circles. When software is touching production servers, unpredictable is the wrong kind of impressive.</a:t>
            </a:r>
            <a:endParaRPr lang="en-US" sz="1200" dirty="0"/>
          </a:p>
        </p:txBody>
      </p:sp>
      <p:sp>
        <p:nvSpPr>
          <p:cNvPr id="18" name="Text 16"/>
          <p:cNvSpPr/>
          <p:nvPr/>
        </p:nvSpPr>
        <p:spPr>
          <a:xfrm>
            <a:off x="566928" y="6254496"/>
            <a:ext cx="1517904" cy="201168"/>
          </a:xfrm>
          <a:prstGeom prst="rect">
            <a:avLst/>
          </a:prstGeom>
          <a:noFill/>
          <a:ln/>
        </p:spPr>
        <p:txBody>
          <a:bodyPr wrap="square" lIns="0" tIns="0" rIns="0" bIns="0" rtlCol="0" anchor="ctr"/>
          <a:lstStyle/>
          <a:p>
            <a:pPr indent="0" marL="0">
              <a:buNone/>
            </a:pPr>
            <a:r>
              <a:rPr lang="en-US" sz="850" b="1" spc="160" kern="0" dirty="0">
                <a:solidFill>
                  <a:srgbClr val="FFE600"/>
                </a:solidFill>
                <a:latin typeface="Arial" pitchFamily="34" charset="0"/>
                <a:ea typeface="Arial" pitchFamily="34" charset="-122"/>
                <a:cs typeface="Arial" pitchFamily="34" charset="-120"/>
              </a:rPr>
              <a:t>UNDER THE HOOD</a:t>
            </a:r>
            <a:endParaRPr lang="en-US" sz="850" dirty="0"/>
          </a:p>
        </p:txBody>
      </p:sp>
      <p:sp>
        <p:nvSpPr>
          <p:cNvPr id="19" name="Text 17"/>
          <p:cNvSpPr/>
          <p:nvPr/>
        </p:nvSpPr>
        <p:spPr>
          <a:xfrm>
            <a:off x="2139696" y="6254496"/>
            <a:ext cx="9308592" cy="310896"/>
          </a:xfrm>
          <a:prstGeom prst="rect">
            <a:avLst/>
          </a:prstGeom>
          <a:noFill/>
          <a:ln/>
        </p:spPr>
        <p:txBody>
          <a:bodyPr wrap="square" lIns="0" tIns="0" rIns="0" bIns="0" rtlCol="0" anchor="ctr"/>
          <a:lstStyle/>
          <a:p>
            <a:pPr indent="0" marL="0">
              <a:lnSpc>
                <a:spcPts val="1300"/>
              </a:lnSpc>
              <a:buNone/>
            </a:pPr>
            <a:r>
              <a:rPr lang="en-US" sz="1000" dirty="0">
                <a:solidFill>
                  <a:srgbClr val="8B8B98"/>
                </a:solidFill>
                <a:latin typeface="Arial" pitchFamily="34" charset="0"/>
                <a:ea typeface="Arial" pitchFamily="34" charset="-122"/>
                <a:cs typeface="Arial" pitchFamily="34" charset="-120"/>
              </a:rPr>
              <a:t>ReAct loop per agent (LangGraph prebuilt); LangGraph StateGraph with a typed shared state between them. 8–14 model calls per auto-remediation run.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DEPLOYMENT</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How it reaches machines it does not live on</a:t>
            </a:r>
            <a:endParaRPr lang="en-US" sz="3000" dirty="0"/>
          </a:p>
        </p:txBody>
      </p:sp>
      <p:sp>
        <p:nvSpPr>
          <p:cNvPr id="5" name="Text 3"/>
          <p:cNvSpPr/>
          <p:nvPr/>
        </p:nvSpPr>
        <p:spPr>
          <a:xfrm>
            <a:off x="566928" y="1700784"/>
            <a:ext cx="10881360" cy="548640"/>
          </a:xfrm>
          <a:prstGeom prst="rect">
            <a:avLst/>
          </a:prstGeom>
          <a:noFill/>
          <a:ln/>
        </p:spPr>
        <p:txBody>
          <a:bodyPr wrap="square" lIns="0" tIns="0" rIns="0" bIns="0" rtlCol="0" anchor="ctr"/>
          <a:lstStyle/>
          <a:p>
            <a:pPr indent="0" marL="0">
              <a:lnSpc>
                <a:spcPts val="2093"/>
              </a:lnSpc>
              <a:buNone/>
            </a:pPr>
            <a:r>
              <a:rPr lang="en-US" sz="1350" dirty="0">
                <a:solidFill>
                  <a:srgbClr val="C4C4CD"/>
                </a:solidFill>
                <a:latin typeface="Arial" pitchFamily="34" charset="0"/>
                <a:ea typeface="Arial" pitchFamily="34" charset="-122"/>
                <a:cs typeface="Arial" pitchFamily="34" charset="-120"/>
              </a:rPr>
              <a:t>A company's firewall blocks strangers coming in and allows staff going out — it has to, or nobody inside could load a website. So we flipped who makes the call.</a:t>
            </a:r>
            <a:endParaRPr lang="en-US" sz="1350" dirty="0"/>
          </a:p>
        </p:txBody>
      </p:sp>
      <p:sp>
        <p:nvSpPr>
          <p:cNvPr id="6" name="Shape 4"/>
          <p:cNvSpPr/>
          <p:nvPr/>
        </p:nvSpPr>
        <p:spPr>
          <a:xfrm>
            <a:off x="566928" y="2432304"/>
            <a:ext cx="3200400" cy="2011680"/>
          </a:xfrm>
          <a:prstGeom prst="rect">
            <a:avLst/>
          </a:prstGeom>
          <a:solidFill>
            <a:srgbClr val="3A3A46"/>
          </a:solidFill>
          <a:ln w="12700">
            <a:solidFill>
              <a:srgbClr val="50505C"/>
            </a:solidFill>
            <a:prstDash val="solid"/>
          </a:ln>
        </p:spPr>
      </p:sp>
      <p:sp>
        <p:nvSpPr>
          <p:cNvPr id="7" name="Text 5"/>
          <p:cNvSpPr/>
          <p:nvPr/>
        </p:nvSpPr>
        <p:spPr>
          <a:xfrm>
            <a:off x="859536" y="2688336"/>
            <a:ext cx="27432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Our server</a:t>
            </a:r>
            <a:endParaRPr lang="en-US" sz="1500" dirty="0"/>
          </a:p>
        </p:txBody>
      </p:sp>
      <p:sp>
        <p:nvSpPr>
          <p:cNvPr id="8" name="Text 6"/>
          <p:cNvSpPr/>
          <p:nvPr/>
        </p:nvSpPr>
        <p:spPr>
          <a:xfrm>
            <a:off x="859536" y="3054096"/>
            <a:ext cx="2743200" cy="100584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Pins a job to a list.</a:t>
            </a:r>
            <a:endParaRPr lang="en-US" sz="1150" dirty="0"/>
          </a:p>
          <a:p>
            <a:pPr indent="0" marL="0">
              <a:lnSpc>
                <a:spcPts val="1783"/>
              </a:lnSpc>
              <a:buNone/>
            </a:pPr>
            <a:r>
              <a:rPr lang="en-US" sz="1150" dirty="0">
                <a:solidFill>
                  <a:srgbClr val="C4C4CD"/>
                </a:solidFill>
                <a:latin typeface="Arial" pitchFamily="34" charset="0"/>
                <a:ea typeface="Arial" pitchFamily="34" charset="-122"/>
                <a:cs typeface="Arial" pitchFamily="34" charset="-120"/>
              </a:rPr>
              <a:t>Then waits.</a:t>
            </a:r>
            <a:endParaRPr lang="en-US" sz="1150" dirty="0"/>
          </a:p>
          <a:p>
            <a:pPr indent="0" marL="0">
              <a:lnSpc>
                <a:spcPts val="1783"/>
              </a:lnSpc>
              <a:buNone/>
            </a:pPr>
            <a:r>
              <a:rPr lang="en-US" sz="1150" dirty="0">
                <a:solidFill>
                  <a:srgbClr val="C4C4CD"/>
                </a:solidFill>
                <a:latin typeface="Arial" pitchFamily="34" charset="0"/>
                <a:ea typeface="Arial" pitchFamily="34" charset="-122"/>
                <a:cs typeface="Arial" pitchFamily="34" charset="-120"/>
              </a:rPr>
              <a:t>Never leaves the building.</a:t>
            </a:r>
            <a:endParaRPr lang="en-US" sz="1150" dirty="0"/>
          </a:p>
        </p:txBody>
      </p:sp>
      <p:sp>
        <p:nvSpPr>
          <p:cNvPr id="9" name="Shape 7"/>
          <p:cNvSpPr/>
          <p:nvPr/>
        </p:nvSpPr>
        <p:spPr>
          <a:xfrm>
            <a:off x="8138160" y="2432304"/>
            <a:ext cx="3291840" cy="2011680"/>
          </a:xfrm>
          <a:prstGeom prst="rect">
            <a:avLst/>
          </a:prstGeom>
          <a:solidFill>
            <a:srgbClr val="3A3A46"/>
          </a:solidFill>
          <a:ln w="12700">
            <a:solidFill>
              <a:srgbClr val="50505C"/>
            </a:solidFill>
            <a:prstDash val="solid"/>
          </a:ln>
        </p:spPr>
      </p:sp>
      <p:sp>
        <p:nvSpPr>
          <p:cNvPr id="10" name="Shape 8"/>
          <p:cNvSpPr/>
          <p:nvPr/>
        </p:nvSpPr>
        <p:spPr>
          <a:xfrm>
            <a:off x="8138160" y="2432304"/>
            <a:ext cx="54864" cy="2011680"/>
          </a:xfrm>
          <a:prstGeom prst="rect">
            <a:avLst/>
          </a:prstGeom>
          <a:solidFill>
            <a:srgbClr val="FFE600"/>
          </a:solidFill>
          <a:ln w="12700">
            <a:solidFill>
              <a:srgbClr val="333333"/>
            </a:solidFill>
            <a:prstDash val="solid"/>
          </a:ln>
        </p:spPr>
      </p:sp>
      <p:sp>
        <p:nvSpPr>
          <p:cNvPr id="11" name="Text 9"/>
          <p:cNvSpPr/>
          <p:nvPr/>
        </p:nvSpPr>
        <p:spPr>
          <a:xfrm>
            <a:off x="8467344" y="2688336"/>
            <a:ext cx="27432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Their machine</a:t>
            </a:r>
            <a:endParaRPr lang="en-US" sz="1500" dirty="0"/>
          </a:p>
        </p:txBody>
      </p:sp>
      <p:sp>
        <p:nvSpPr>
          <p:cNvPr id="12" name="Text 10"/>
          <p:cNvSpPr/>
          <p:nvPr/>
        </p:nvSpPr>
        <p:spPr>
          <a:xfrm>
            <a:off x="8467344" y="3054096"/>
            <a:ext cx="2743200" cy="100584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A small helper asks</a:t>
            </a:r>
            <a:endParaRPr lang="en-US" sz="1150" dirty="0"/>
          </a:p>
          <a:p>
            <a:pPr indent="0" marL="0">
              <a:lnSpc>
                <a:spcPts val="1783"/>
              </a:lnSpc>
              <a:buNone/>
            </a:pPr>
            <a:r>
              <a:rPr lang="en-US" sz="1150" dirty="0">
                <a:solidFill>
                  <a:srgbClr val="C4C4CD"/>
                </a:solidFill>
                <a:latin typeface="Arial" pitchFamily="34" charset="0"/>
                <a:ea typeface="Arial" pitchFamily="34" charset="-122"/>
                <a:cs typeface="Arial" pitchFamily="34" charset="-120"/>
              </a:rPr>
              <a:t>“anything for me?”</a:t>
            </a:r>
            <a:endParaRPr lang="en-US" sz="1150" dirty="0"/>
          </a:p>
          <a:p>
            <a:pPr indent="0" marL="0">
              <a:lnSpc>
                <a:spcPts val="1783"/>
              </a:lnSpc>
              <a:buNone/>
            </a:pPr>
            <a:r>
              <a:rPr lang="en-US" sz="1150" dirty="0">
                <a:solidFill>
                  <a:srgbClr val="C4C4CD"/>
                </a:solidFill>
                <a:latin typeface="Arial" pitchFamily="34" charset="0"/>
                <a:ea typeface="Arial" pitchFamily="34" charset="-122"/>
                <a:cs typeface="Arial" pitchFamily="34" charset="-120"/>
              </a:rPr>
              <a:t>every 3 seconds.</a:t>
            </a:r>
            <a:endParaRPr lang="en-US" sz="1150" dirty="0"/>
          </a:p>
        </p:txBody>
      </p:sp>
      <p:sp>
        <p:nvSpPr>
          <p:cNvPr id="13" name="Shape 11"/>
          <p:cNvSpPr/>
          <p:nvPr/>
        </p:nvSpPr>
        <p:spPr>
          <a:xfrm flipH="1">
            <a:off x="3950208" y="2761488"/>
            <a:ext cx="4005072" cy="0"/>
          </a:xfrm>
          <a:prstGeom prst="line">
            <a:avLst/>
          </a:prstGeom>
          <a:noFill/>
          <a:ln w="25400">
            <a:solidFill>
              <a:srgbClr val="FFE600"/>
            </a:solidFill>
            <a:prstDash val="solid"/>
            <a:headEnd type="none"/>
            <a:tailEnd type="triangle"/>
          </a:ln>
        </p:spPr>
      </p:sp>
      <p:sp>
        <p:nvSpPr>
          <p:cNvPr id="14" name="Text 12"/>
          <p:cNvSpPr/>
          <p:nvPr/>
        </p:nvSpPr>
        <p:spPr>
          <a:xfrm>
            <a:off x="3950208" y="2450592"/>
            <a:ext cx="4023360" cy="274320"/>
          </a:xfrm>
          <a:prstGeom prst="rect">
            <a:avLst/>
          </a:prstGeom>
          <a:noFill/>
          <a:ln/>
        </p:spPr>
        <p:txBody>
          <a:bodyPr wrap="square" lIns="0" tIns="0" rIns="0" bIns="0" rtlCol="0" anchor="ctr"/>
          <a:lstStyle/>
          <a:p>
            <a:pPr algn="ctr" indent="0" marL="0">
              <a:buNone/>
            </a:pPr>
            <a:r>
              <a:rPr lang="en-US" sz="950" dirty="0">
                <a:solidFill>
                  <a:srgbClr val="C4C4CD"/>
                </a:solidFill>
                <a:latin typeface="Arial" pitchFamily="34" charset="0"/>
                <a:ea typeface="Arial" pitchFamily="34" charset="-122"/>
                <a:cs typeface="Arial" pitchFamily="34" charset="-120"/>
              </a:rPr>
              <a:t>Signs in once, with a pass that expires in an hour and works only once</a:t>
            </a:r>
            <a:endParaRPr lang="en-US" sz="950" dirty="0"/>
          </a:p>
        </p:txBody>
      </p:sp>
      <p:sp>
        <p:nvSpPr>
          <p:cNvPr id="15" name="Shape 13"/>
          <p:cNvSpPr/>
          <p:nvPr/>
        </p:nvSpPr>
        <p:spPr>
          <a:xfrm flipH="1">
            <a:off x="3950208" y="3255264"/>
            <a:ext cx="4005072" cy="0"/>
          </a:xfrm>
          <a:prstGeom prst="line">
            <a:avLst/>
          </a:prstGeom>
          <a:noFill/>
          <a:ln w="25400">
            <a:solidFill>
              <a:srgbClr val="FFE600"/>
            </a:solidFill>
            <a:prstDash val="solid"/>
            <a:headEnd type="none"/>
            <a:tailEnd type="triangle"/>
          </a:ln>
        </p:spPr>
      </p:sp>
      <p:sp>
        <p:nvSpPr>
          <p:cNvPr id="16" name="Text 14"/>
          <p:cNvSpPr/>
          <p:nvPr/>
        </p:nvSpPr>
        <p:spPr>
          <a:xfrm>
            <a:off x="3950208" y="2944368"/>
            <a:ext cx="4023360" cy="274320"/>
          </a:xfrm>
          <a:prstGeom prst="rect">
            <a:avLst/>
          </a:prstGeom>
          <a:noFill/>
          <a:ln/>
        </p:spPr>
        <p:txBody>
          <a:bodyPr wrap="square" lIns="0" tIns="0" rIns="0" bIns="0" rtlCol="0" anchor="ctr"/>
          <a:lstStyle/>
          <a:p>
            <a:pPr algn="ctr" indent="0" marL="0">
              <a:buNone/>
            </a:pPr>
            <a:r>
              <a:rPr lang="en-US" sz="950" dirty="0">
                <a:solidFill>
                  <a:srgbClr val="C4C4CD"/>
                </a:solidFill>
                <a:latin typeface="Arial" pitchFamily="34" charset="0"/>
                <a:ea typeface="Arial" pitchFamily="34" charset="-122"/>
                <a:cs typeface="Arial" pitchFamily="34" charset="-120"/>
              </a:rPr>
              <a:t>“Anything for me?” — every 3 seconds, outbound</a:t>
            </a:r>
            <a:endParaRPr lang="en-US" sz="950" dirty="0"/>
          </a:p>
        </p:txBody>
      </p:sp>
      <p:sp>
        <p:nvSpPr>
          <p:cNvPr id="17" name="Shape 15"/>
          <p:cNvSpPr/>
          <p:nvPr/>
        </p:nvSpPr>
        <p:spPr>
          <a:xfrm flipH="1">
            <a:off x="3950208" y="3749040"/>
            <a:ext cx="4005072" cy="0"/>
          </a:xfrm>
          <a:prstGeom prst="line">
            <a:avLst/>
          </a:prstGeom>
          <a:noFill/>
          <a:ln w="25400">
            <a:solidFill>
              <a:srgbClr val="FFE600"/>
            </a:solidFill>
            <a:prstDash val="solid"/>
            <a:headEnd type="none"/>
            <a:tailEnd type="triangle"/>
          </a:ln>
        </p:spPr>
      </p:sp>
      <p:sp>
        <p:nvSpPr>
          <p:cNvPr id="18" name="Text 16"/>
          <p:cNvSpPr/>
          <p:nvPr/>
        </p:nvSpPr>
        <p:spPr>
          <a:xfrm>
            <a:off x="3950208" y="3438144"/>
            <a:ext cx="4023360" cy="274320"/>
          </a:xfrm>
          <a:prstGeom prst="rect">
            <a:avLst/>
          </a:prstGeom>
          <a:noFill/>
          <a:ln/>
        </p:spPr>
        <p:txBody>
          <a:bodyPr wrap="square" lIns="0" tIns="0" rIns="0" bIns="0" rtlCol="0" anchor="ctr"/>
          <a:lstStyle/>
          <a:p>
            <a:pPr algn="ctr" indent="0" marL="0">
              <a:buNone/>
            </a:pPr>
            <a:r>
              <a:rPr lang="en-US" sz="950" dirty="0">
                <a:solidFill>
                  <a:srgbClr val="C4C4CD"/>
                </a:solidFill>
                <a:latin typeface="Arial" pitchFamily="34" charset="0"/>
                <a:ea typeface="Arial" pitchFamily="34" charset="-122"/>
                <a:cs typeface="Arial" pitchFamily="34" charset="-120"/>
              </a:rPr>
              <a:t>Does the work locally, sends back the answer</a:t>
            </a:r>
            <a:endParaRPr lang="en-US" sz="950" dirty="0"/>
          </a:p>
        </p:txBody>
      </p:sp>
      <p:sp>
        <p:nvSpPr>
          <p:cNvPr id="19" name="Text 17"/>
          <p:cNvSpPr/>
          <p:nvPr/>
        </p:nvSpPr>
        <p:spPr>
          <a:xfrm>
            <a:off x="566928" y="4626864"/>
            <a:ext cx="10881360" cy="310896"/>
          </a:xfrm>
          <a:prstGeom prst="rect">
            <a:avLst/>
          </a:prstGeom>
          <a:noFill/>
          <a:ln/>
        </p:spPr>
        <p:txBody>
          <a:bodyPr wrap="square" lIns="0" tIns="0" rIns="0" bIns="0" rtlCol="0" anchor="ctr"/>
          <a:lstStyle/>
          <a:p>
            <a:pPr algn="ctr" indent="0" marL="0">
              <a:buNone/>
            </a:pPr>
            <a:r>
              <a:rPr lang="en-US" sz="1400" b="1" dirty="0">
                <a:solidFill>
                  <a:srgbClr val="FFE600"/>
                </a:solidFill>
                <a:latin typeface="Arial" pitchFamily="34" charset="0"/>
                <a:ea typeface="Arial" pitchFamily="34" charset="-122"/>
                <a:cs typeface="Arial" pitchFamily="34" charset="-120"/>
              </a:rPr>
              <a:t>Every arrow points the same way. Nothing is ever opened on their side.</a:t>
            </a:r>
            <a:endParaRPr lang="en-US" sz="1400" dirty="0"/>
          </a:p>
        </p:txBody>
      </p:sp>
      <p:sp>
        <p:nvSpPr>
          <p:cNvPr id="20" name="Shape 18"/>
          <p:cNvSpPr/>
          <p:nvPr/>
        </p:nvSpPr>
        <p:spPr>
          <a:xfrm>
            <a:off x="566928" y="5084064"/>
            <a:ext cx="10881360" cy="969264"/>
          </a:xfrm>
          <a:prstGeom prst="rect">
            <a:avLst/>
          </a:prstGeom>
          <a:solidFill>
            <a:srgbClr val="3A3A46"/>
          </a:solidFill>
          <a:ln w="12700">
            <a:solidFill>
              <a:srgbClr val="50505C"/>
            </a:solidFill>
            <a:prstDash val="solid"/>
          </a:ln>
        </p:spPr>
      </p:sp>
      <p:sp>
        <p:nvSpPr>
          <p:cNvPr id="21" name="Text 19"/>
          <p:cNvSpPr/>
          <p:nvPr/>
        </p:nvSpPr>
        <p:spPr>
          <a:xfrm>
            <a:off x="896112" y="5266944"/>
            <a:ext cx="10241280" cy="640080"/>
          </a:xfrm>
          <a:prstGeom prst="rect">
            <a:avLst/>
          </a:prstGeom>
          <a:noFill/>
          <a:ln/>
        </p:spPr>
        <p:txBody>
          <a:bodyPr wrap="square" lIns="0" tIns="0" rIns="0" bIns="0" rtlCol="0" anchor="ctr"/>
          <a:lstStyle/>
          <a:p>
            <a:pPr indent="0" marL="0">
              <a:lnSpc>
                <a:spcPts val="1860"/>
              </a:lnSpc>
              <a:buNone/>
            </a:pPr>
            <a:r>
              <a:rPr lang="en-US" sz="1200" dirty="0">
                <a:solidFill>
                  <a:srgbClr val="C4C4CD"/>
                </a:solidFill>
                <a:latin typeface="Arial" pitchFamily="34" charset="0"/>
                <a:ea typeface="Arial" pitchFamily="34" charset="-122"/>
                <a:cs typeface="Arial" pitchFamily="34" charset="-120"/>
              </a:rPr>
              <a:t>That single choice is why this installs in minutes instead of requiring a meeting with someone's network team. It is also how the large endpoint-management products reach a laptop sitting behind a home router.</a:t>
            </a:r>
            <a:endParaRPr lang="en-US" sz="1200" dirty="0"/>
          </a:p>
        </p:txBody>
      </p:sp>
      <p:sp>
        <p:nvSpPr>
          <p:cNvPr id="22" name="Text 20"/>
          <p:cNvSpPr/>
          <p:nvPr/>
        </p:nvSpPr>
        <p:spPr>
          <a:xfrm>
            <a:off x="566928" y="6217920"/>
            <a:ext cx="1517904" cy="201168"/>
          </a:xfrm>
          <a:prstGeom prst="rect">
            <a:avLst/>
          </a:prstGeom>
          <a:noFill/>
          <a:ln/>
        </p:spPr>
        <p:txBody>
          <a:bodyPr wrap="square" lIns="0" tIns="0" rIns="0" bIns="0" rtlCol="0" anchor="ctr"/>
          <a:lstStyle/>
          <a:p>
            <a:pPr indent="0" marL="0">
              <a:buNone/>
            </a:pPr>
            <a:r>
              <a:rPr lang="en-US" sz="850" b="1" spc="160" kern="0" dirty="0">
                <a:solidFill>
                  <a:srgbClr val="FFE600"/>
                </a:solidFill>
                <a:latin typeface="Arial" pitchFamily="34" charset="0"/>
                <a:ea typeface="Arial" pitchFamily="34" charset="-122"/>
                <a:cs typeface="Arial" pitchFamily="34" charset="-120"/>
              </a:rPr>
              <a:t>UNDER THE HOOD</a:t>
            </a:r>
            <a:endParaRPr lang="en-US" sz="850" dirty="0"/>
          </a:p>
        </p:txBody>
      </p:sp>
      <p:sp>
        <p:nvSpPr>
          <p:cNvPr id="23" name="Text 21"/>
          <p:cNvSpPr/>
          <p:nvPr/>
        </p:nvSpPr>
        <p:spPr>
          <a:xfrm>
            <a:off x="2139696" y="6217920"/>
            <a:ext cx="9308592" cy="310896"/>
          </a:xfrm>
          <a:prstGeom prst="rect">
            <a:avLst/>
          </a:prstGeom>
          <a:noFill/>
          <a:ln/>
        </p:spPr>
        <p:txBody>
          <a:bodyPr wrap="square" lIns="0" tIns="0" rIns="0" bIns="0" rtlCol="0" anchor="ctr"/>
          <a:lstStyle/>
          <a:p>
            <a:pPr indent="0" marL="0">
              <a:lnSpc>
                <a:spcPts val="1300"/>
              </a:lnSpc>
              <a:buNone/>
            </a:pPr>
            <a:r>
              <a:rPr lang="en-US" sz="1000" dirty="0">
                <a:solidFill>
                  <a:srgbClr val="8B8B98"/>
                </a:solidFill>
                <a:latin typeface="Arial" pitchFamily="34" charset="0"/>
                <a:ea typeface="Arial" pitchFamily="34" charset="-122"/>
                <a:cs typeface="Arial" pitchFamily="34" charset="-120"/>
              </a:rPr>
              <a:t>Three transports behind one interface — local (psutil), SSH (paramiko), and an outbound-polling daemon. Single-use enrolment token, 60-minute expiry, exchanged once for a long-lived key.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SAFETY</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stops it doing something it should not</a:t>
            </a:r>
            <a:endParaRPr lang="en-US" sz="3000" dirty="0"/>
          </a:p>
        </p:txBody>
      </p:sp>
      <p:sp>
        <p:nvSpPr>
          <p:cNvPr id="5" name="Text 3"/>
          <p:cNvSpPr/>
          <p:nvPr/>
        </p:nvSpPr>
        <p:spPr>
          <a:xfrm>
            <a:off x="566928" y="1700784"/>
            <a:ext cx="10881360" cy="548640"/>
          </a:xfrm>
          <a:prstGeom prst="rect">
            <a:avLst/>
          </a:prstGeom>
          <a:noFill/>
          <a:ln/>
        </p:spPr>
        <p:txBody>
          <a:bodyPr wrap="square" lIns="0" tIns="0" rIns="0" bIns="0" rtlCol="0" anchor="ctr"/>
          <a:lstStyle/>
          <a:p>
            <a:pPr indent="0" marL="0">
              <a:lnSpc>
                <a:spcPts val="2093"/>
              </a:lnSpc>
              <a:buNone/>
            </a:pPr>
            <a:r>
              <a:rPr lang="en-US" sz="1350" dirty="0">
                <a:solidFill>
                  <a:srgbClr val="FFFFFF"/>
                </a:solidFill>
                <a:latin typeface="Arial" pitchFamily="34" charset="0"/>
                <a:ea typeface="Arial" pitchFamily="34" charset="-122"/>
                <a:cs typeface="Arial" pitchFamily="34" charset="-120"/>
              </a:rPr>
              <a:t>The assistant can never run anything. It can only ask — and our code decides whether to allow it. Every limit below is enforced in code, not requested in an instruction the model could be talked out of.</a:t>
            </a:r>
            <a:endParaRPr lang="en-US" sz="1350" dirty="0"/>
          </a:p>
        </p:txBody>
      </p:sp>
      <p:sp>
        <p:nvSpPr>
          <p:cNvPr id="6" name="Shape 4"/>
          <p:cNvSpPr/>
          <p:nvPr/>
        </p:nvSpPr>
        <p:spPr>
          <a:xfrm>
            <a:off x="566928" y="2432304"/>
            <a:ext cx="45720" cy="676656"/>
          </a:xfrm>
          <a:prstGeom prst="rect">
            <a:avLst/>
          </a:prstGeom>
          <a:solidFill>
            <a:srgbClr val="FFE600"/>
          </a:solidFill>
          <a:ln w="12700">
            <a:solidFill>
              <a:srgbClr val="333333"/>
            </a:solidFill>
            <a:prstDash val="solid"/>
          </a:ln>
        </p:spPr>
      </p:sp>
      <p:sp>
        <p:nvSpPr>
          <p:cNvPr id="7" name="Text 5"/>
          <p:cNvSpPr/>
          <p:nvPr/>
        </p:nvSpPr>
        <p:spPr>
          <a:xfrm>
            <a:off x="859536" y="2450592"/>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It orders from a menu</a:t>
            </a:r>
            <a:endParaRPr lang="en-US" sz="1300" dirty="0"/>
          </a:p>
        </p:txBody>
      </p:sp>
      <p:sp>
        <p:nvSpPr>
          <p:cNvPr id="8" name="Text 6"/>
          <p:cNvSpPr/>
          <p:nvPr/>
        </p:nvSpPr>
        <p:spPr>
          <a:xfrm>
            <a:off x="4206240" y="2432304"/>
            <a:ext cx="7223760" cy="67665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For system commands there is a fixed list of 13, all read-only. Ask for anything else and it is refused by name.</a:t>
            </a:r>
            <a:endParaRPr lang="en-US" sz="1150" dirty="0"/>
          </a:p>
        </p:txBody>
      </p:sp>
      <p:sp>
        <p:nvSpPr>
          <p:cNvPr id="9" name="Shape 7"/>
          <p:cNvSpPr/>
          <p:nvPr/>
        </p:nvSpPr>
        <p:spPr>
          <a:xfrm>
            <a:off x="566928" y="3236976"/>
            <a:ext cx="45720" cy="676656"/>
          </a:xfrm>
          <a:prstGeom prst="rect">
            <a:avLst/>
          </a:prstGeom>
          <a:solidFill>
            <a:srgbClr val="FFE600"/>
          </a:solidFill>
          <a:ln w="12700">
            <a:solidFill>
              <a:srgbClr val="333333"/>
            </a:solidFill>
            <a:prstDash val="solid"/>
          </a:ln>
        </p:spPr>
      </p:sp>
      <p:sp>
        <p:nvSpPr>
          <p:cNvPr id="10" name="Text 8"/>
          <p:cNvSpPr/>
          <p:nvPr/>
        </p:nvSpPr>
        <p:spPr>
          <a:xfrm>
            <a:off x="859536" y="3255264"/>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Each specialist is boxed in</a:t>
            </a:r>
            <a:endParaRPr lang="en-US" sz="1300" dirty="0"/>
          </a:p>
        </p:txBody>
      </p:sp>
      <p:sp>
        <p:nvSpPr>
          <p:cNvPr id="11" name="Text 9"/>
          <p:cNvSpPr/>
          <p:nvPr/>
        </p:nvSpPr>
        <p:spPr>
          <a:xfrm>
            <a:off x="4206240" y="3236976"/>
            <a:ext cx="7223760" cy="67665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It holds only its own abilities. Two of the three cannot change anything at all.</a:t>
            </a:r>
            <a:endParaRPr lang="en-US" sz="1150" dirty="0"/>
          </a:p>
        </p:txBody>
      </p:sp>
      <p:sp>
        <p:nvSpPr>
          <p:cNvPr id="12" name="Shape 10"/>
          <p:cNvSpPr/>
          <p:nvPr/>
        </p:nvSpPr>
        <p:spPr>
          <a:xfrm>
            <a:off x="566928" y="4041648"/>
            <a:ext cx="45720" cy="676656"/>
          </a:xfrm>
          <a:prstGeom prst="rect">
            <a:avLst/>
          </a:prstGeom>
          <a:solidFill>
            <a:srgbClr val="FFE600"/>
          </a:solidFill>
          <a:ln w="12700">
            <a:solidFill>
              <a:srgbClr val="333333"/>
            </a:solidFill>
            <a:prstDash val="solid"/>
          </a:ln>
        </p:spPr>
      </p:sp>
      <p:sp>
        <p:nvSpPr>
          <p:cNvPr id="13" name="Text 11"/>
          <p:cNvSpPr/>
          <p:nvPr/>
        </p:nvSpPr>
        <p:spPr>
          <a:xfrm>
            <a:off x="859536" y="4059936"/>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Written code is inspected first</a:t>
            </a:r>
            <a:endParaRPr lang="en-US" sz="1300" dirty="0"/>
          </a:p>
        </p:txBody>
      </p:sp>
      <p:sp>
        <p:nvSpPr>
          <p:cNvPr id="14" name="Text 12"/>
          <p:cNvSpPr/>
          <p:nvPr/>
        </p:nvSpPr>
        <p:spPr>
          <a:xfrm>
            <a:off x="4206240" y="4041648"/>
            <a:ext cx="7223760" cy="67665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When it writes a snippet, the code is taken apart and checked before running. Anything unfamiliar is rejected rather than allowed.</a:t>
            </a:r>
            <a:endParaRPr lang="en-US" sz="1150" dirty="0"/>
          </a:p>
        </p:txBody>
      </p:sp>
      <p:sp>
        <p:nvSpPr>
          <p:cNvPr id="15" name="Shape 13"/>
          <p:cNvSpPr/>
          <p:nvPr/>
        </p:nvSpPr>
        <p:spPr>
          <a:xfrm>
            <a:off x="566928" y="4846320"/>
            <a:ext cx="45720" cy="676656"/>
          </a:xfrm>
          <a:prstGeom prst="rect">
            <a:avLst/>
          </a:prstGeom>
          <a:solidFill>
            <a:srgbClr val="FFE600"/>
          </a:solidFill>
          <a:ln w="12700">
            <a:solidFill>
              <a:srgbClr val="333333"/>
            </a:solidFill>
            <a:prstDash val="solid"/>
          </a:ln>
        </p:spPr>
      </p:sp>
      <p:sp>
        <p:nvSpPr>
          <p:cNvPr id="16" name="Text 14"/>
          <p:cNvSpPr/>
          <p:nvPr/>
        </p:nvSpPr>
        <p:spPr>
          <a:xfrm>
            <a:off x="859536" y="4864608"/>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It cannot read your secrets</a:t>
            </a:r>
            <a:endParaRPr lang="en-US" sz="1300" dirty="0"/>
          </a:p>
        </p:txBody>
      </p:sp>
      <p:sp>
        <p:nvSpPr>
          <p:cNvPr id="17" name="Text 15"/>
          <p:cNvSpPr/>
          <p:nvPr/>
        </p:nvSpPr>
        <p:spPr>
          <a:xfrm>
            <a:off x="4206240" y="4846320"/>
            <a:ext cx="7223760" cy="67665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File names that look like passwords or keys are refused outright — otherwise the assistant could simply be asked to read the password file.</a:t>
            </a:r>
            <a:endParaRPr lang="en-US" sz="1150" dirty="0"/>
          </a:p>
        </p:txBody>
      </p:sp>
      <p:sp>
        <p:nvSpPr>
          <p:cNvPr id="18" name="Shape 16"/>
          <p:cNvSpPr/>
          <p:nvPr/>
        </p:nvSpPr>
        <p:spPr>
          <a:xfrm>
            <a:off x="566928" y="5650992"/>
            <a:ext cx="45720" cy="676656"/>
          </a:xfrm>
          <a:prstGeom prst="rect">
            <a:avLst/>
          </a:prstGeom>
          <a:solidFill>
            <a:srgbClr val="FFE600"/>
          </a:solidFill>
          <a:ln w="12700">
            <a:solidFill>
              <a:srgbClr val="333333"/>
            </a:solidFill>
            <a:prstDash val="solid"/>
          </a:ln>
        </p:spPr>
      </p:sp>
      <p:sp>
        <p:nvSpPr>
          <p:cNvPr id="19" name="Text 17"/>
          <p:cNvSpPr/>
          <p:nvPr/>
        </p:nvSpPr>
        <p:spPr>
          <a:xfrm>
            <a:off x="859536" y="5669280"/>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Nothing is stored in the clear</a:t>
            </a:r>
            <a:endParaRPr lang="en-US" sz="1300" dirty="0"/>
          </a:p>
        </p:txBody>
      </p:sp>
      <p:sp>
        <p:nvSpPr>
          <p:cNvPr id="20" name="Text 18"/>
          <p:cNvSpPr/>
          <p:nvPr/>
        </p:nvSpPr>
        <p:spPr>
          <a:xfrm>
            <a:off x="4206240" y="5650992"/>
            <a:ext cx="7223760" cy="676656"/>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Passwords, sign-in tokens and machine keys are stored as one-way fingerprints. Even we cannot read them back.</a:t>
            </a:r>
            <a:endParaRPr lang="en-US" sz="1150" dirty="0"/>
          </a:p>
        </p:txBody>
      </p:sp>
      <p:sp>
        <p:nvSpPr>
          <p:cNvPr id="21" name="Text 19"/>
          <p:cNvSpPr/>
          <p:nvPr/>
        </p:nvSpPr>
        <p:spPr>
          <a:xfrm>
            <a:off x="566928" y="6419088"/>
            <a:ext cx="10881360" cy="292608"/>
          </a:xfrm>
          <a:prstGeom prst="rect">
            <a:avLst/>
          </a:prstGeom>
          <a:noFill/>
          <a:ln/>
        </p:spPr>
        <p:txBody>
          <a:bodyPr wrap="square" lIns="0" tIns="0" rIns="0" bIns="0" rtlCol="0" anchor="ctr"/>
          <a:lstStyle/>
          <a:p>
            <a:pPr indent="0" marL="0">
              <a:buNone/>
            </a:pPr>
            <a:r>
              <a:rPr lang="en-US" sz="1000" dirty="0">
                <a:solidFill>
                  <a:srgbClr val="8B8B98"/>
                </a:solidFill>
                <a:latin typeface="Arial" pitchFamily="34" charset="0"/>
                <a:ea typeface="Arial" pitchFamily="34" charset="-122"/>
                <a:cs typeface="Arial" pitchFamily="34" charset="-120"/>
              </a:rPr>
              <a:t>Stated openly, not hidden: three hardening gaps remain before a real deployment — they are written into the project's own documentation rather than left to be discovered.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THE MARKET</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Everyone is building the diagnosis. Few will touch anything.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92224"/>
          <a:ext cx="10881360" cy="914400"/>
        </p:xfrm>
        <a:graphic>
          <a:graphicData uri="http://schemas.openxmlformats.org/drawingml/2006/table">
            <a:tbl>
              <a:tblPr/>
              <a:tblGrid>
                <a:gridCol w="2743200"/>
                <a:gridCol w="3108960"/>
                <a:gridCol w="5029200"/>
              </a:tblGrid>
              <a:tr h="0">
                <a:tc>
                  <a:txBody>
                    <a:bodyPr/>
                    <a:lstStyle/>
                    <a:p>
                      <a:pPr indent="0" marL="0">
                        <a:buNone/>
                      </a:pPr>
                      <a:r>
                        <a:rPr lang="en-US" sz="1050" b="1" spc="100" kern="0" dirty="0">
                          <a:solidFill>
                            <a:srgbClr val="2E2E38"/>
                          </a:solidFill>
                          <a:latin typeface="Arial" pitchFamily="34" charset="0"/>
                          <a:ea typeface="Arial" pitchFamily="34" charset="-122"/>
                          <a:cs typeface="Arial" pitchFamily="34" charset="-120"/>
                        </a:rPr>
                        <a:t>Who</a:t>
                      </a:r>
                      <a:endParaRPr lang="en-US" sz="105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FFE600"/>
                    </a:solidFill>
                  </a:tcPr>
                </a:tc>
                <a:tc>
                  <a:txBody>
                    <a:bodyPr/>
                    <a:lstStyle/>
                    <a:p>
                      <a:pPr indent="0" marL="0">
                        <a:buNone/>
                      </a:pPr>
                      <a:r>
                        <a:rPr lang="en-US" sz="1050" b="1" spc="100" kern="0" dirty="0">
                          <a:solidFill>
                            <a:srgbClr val="2E2E38"/>
                          </a:solidFill>
                          <a:latin typeface="Arial" pitchFamily="34" charset="0"/>
                          <a:ea typeface="Arial" pitchFamily="34" charset="-122"/>
                          <a:cs typeface="Arial" pitchFamily="34" charset="-120"/>
                        </a:rPr>
                        <a:t>What they sell</a:t>
                      </a:r>
                      <a:endParaRPr lang="en-US" sz="105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FFE600"/>
                    </a:solidFill>
                  </a:tcPr>
                </a:tc>
                <a:tc>
                  <a:txBody>
                    <a:bodyPr/>
                    <a:lstStyle/>
                    <a:p>
                      <a:pPr indent="0" marL="0">
                        <a:buNone/>
                      </a:pPr>
                      <a:r>
                        <a:rPr lang="en-US" sz="1050" b="1" spc="100" kern="0" dirty="0">
                          <a:solidFill>
                            <a:srgbClr val="2E2E38"/>
                          </a:solidFill>
                          <a:latin typeface="Arial" pitchFamily="34" charset="0"/>
                          <a:ea typeface="Arial" pitchFamily="34" charset="-122"/>
                          <a:cs typeface="Arial" pitchFamily="34" charset="-120"/>
                        </a:rPr>
                        <a:t>Where we sit</a:t>
                      </a:r>
                      <a:endParaRPr lang="en-US" sz="105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FFE600"/>
                    </a:solidFill>
                  </a:tcPr>
                </a:tc>
              </a:tr>
              <a:tr h="0">
                <a:tc>
                  <a:txBody>
                    <a:bodyPr/>
                    <a:lstStyle/>
                    <a:p>
                      <a:pPr indent="0" marL="0">
                        <a:buNone/>
                      </a:pPr>
                      <a:r>
                        <a:rPr lang="en-US" sz="1100" dirty="0">
                          <a:solidFill>
                            <a:srgbClr val="C4C4CD"/>
                          </a:solidFill>
                          <a:latin typeface="Arial" pitchFamily="34" charset="0"/>
                          <a:ea typeface="Arial" pitchFamily="34" charset="-122"/>
                          <a:cs typeface="Arial" pitchFamily="34" charset="-120"/>
                        </a:rPr>
                        <a:t>Datadog, Grafana, Zabbix</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C4C4CD"/>
                          </a:solidFill>
                          <a:latin typeface="Arial" pitchFamily="34" charset="0"/>
                          <a:ea typeface="Arial" pitchFamily="34" charset="-122"/>
                          <a:cs typeface="Arial" pitchFamily="34" charset="-120"/>
                        </a:rPr>
                        <a:t>Watching and alarming</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C4C4CD"/>
                          </a:solidFill>
                          <a:latin typeface="Arial" pitchFamily="34" charset="0"/>
                          <a:ea typeface="Arial" pitchFamily="34" charset="-122"/>
                          <a:cs typeface="Arial" pitchFamily="34" charset="-120"/>
                        </a:rPr>
                        <a:t>They raise the alarm. We start where they stop.</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r>
              <a:tr h="0">
                <a:tc>
                  <a:txBody>
                    <a:bodyPr/>
                    <a:lstStyle/>
                    <a:p>
                      <a:pPr indent="0" marL="0">
                        <a:buNone/>
                      </a:pPr>
                      <a:r>
                        <a:rPr lang="en-US" sz="1100" dirty="0">
                          <a:solidFill>
                            <a:srgbClr val="C4C4CD"/>
                          </a:solidFill>
                          <a:latin typeface="Arial" pitchFamily="34" charset="0"/>
                          <a:ea typeface="Arial" pitchFamily="34" charset="-122"/>
                          <a:cs typeface="Arial" pitchFamily="34" charset="-120"/>
                        </a:rPr>
                        <a:t>PagerDuty, BigPanda</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C4C4CD"/>
                          </a:solidFill>
                          <a:latin typeface="Arial" pitchFamily="34" charset="0"/>
                          <a:ea typeface="Arial" pitchFamily="34" charset="-122"/>
                          <a:cs typeface="Arial" pitchFamily="34" charset="-120"/>
                        </a:rPr>
                        <a:t>Grouping 10,000 alarms into 12</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C4C4CD"/>
                          </a:solidFill>
                          <a:latin typeface="Arial" pitchFamily="34" charset="0"/>
                          <a:ea typeface="Arial" pitchFamily="34" charset="-122"/>
                          <a:cs typeface="Arial" pitchFamily="34" charset="-120"/>
                        </a:rPr>
                        <a:t>Useful, but still tells you nothing about the cause.</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Resolve.ai, Cleric, Traversal</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C4C4CD"/>
                          </a:solidFill>
                          <a:latin typeface="Arial" pitchFamily="34" charset="0"/>
                          <a:ea typeface="Arial" pitchFamily="34" charset="-122"/>
                          <a:cs typeface="Arial" pitchFamily="34" charset="-120"/>
                        </a:rPr>
                        <a:t>AI that investigates an alarm</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FFFFFF"/>
                          </a:solidFill>
                          <a:latin typeface="Arial" pitchFamily="34" charset="0"/>
                          <a:ea typeface="Arial" pitchFamily="34" charset="-122"/>
                          <a:cs typeface="Arial" pitchFamily="34" charset="-120"/>
                        </a:rPr>
                        <a:t>Closest in ambition — but they need a large cloud setup we do not, and most deliberately never act.</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NinjaOne, Atera</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C4C4CD"/>
                          </a:solidFill>
                          <a:latin typeface="Arial" pitchFamily="34" charset="0"/>
                          <a:ea typeface="Arial" pitchFamily="34" charset="-122"/>
                          <a:cs typeface="Arial" pitchFamily="34" charset="-120"/>
                        </a:rPr>
                        <a:t>Managing company laptops and servers</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c>
                  <a:txBody>
                    <a:bodyPr/>
                    <a:lstStyle/>
                    <a:p>
                      <a:pPr indent="0" marL="0">
                        <a:buNone/>
                      </a:pPr>
                      <a:r>
                        <a:rPr lang="en-US" sz="1100" dirty="0">
                          <a:solidFill>
                            <a:srgbClr val="FFFFFF"/>
                          </a:solidFill>
                          <a:latin typeface="Arial" pitchFamily="34" charset="0"/>
                          <a:ea typeface="Arial" pitchFamily="34" charset="-122"/>
                          <a:cs typeface="Arial" pitchFamily="34" charset="-120"/>
                        </a:rPr>
                        <a:t>Our real neighbourhood. They automate rules a human wrote. We handle the case nobody wrote a rule for.</a:t>
                      </a:r>
                      <a:endParaRPr lang="en-US" sz="1100" dirty="0">
                        <a:latin typeface="Arial" charset="0"/>
                        <a:ea typeface="Arial" charset="0"/>
                        <a:cs typeface="Arial" charset="0"/>
                      </a:endParaRPr>
                    </a:p>
                  </a:txBody>
                  <a:tcPr marL="127000" marR="127000" marT="88900" marB="88900" anchor="t">
                    <a:lnL w="12700" cap="flat" cmpd="sng" algn="ctr">
                      <a:solidFill>
                        <a:srgbClr val="50505C"/>
                      </a:solidFill>
                      <a:prstDash val="solid"/>
                      <a:round/>
                      <a:headEnd type="none" w="med" len="med"/>
                      <a:tailEnd type="none" w="med" len="med"/>
                    </a:lnL>
                    <a:lnR w="12700" cap="flat" cmpd="sng" algn="ctr">
                      <a:solidFill>
                        <a:srgbClr val="50505C"/>
                      </a:solidFill>
                      <a:prstDash val="solid"/>
                      <a:round/>
                      <a:headEnd type="none" w="med" len="med"/>
                      <a:tailEnd type="none" w="med" len="med"/>
                    </a:lnR>
                    <a:lnT w="12700" cap="flat" cmpd="sng" algn="ctr">
                      <a:solidFill>
                        <a:srgbClr val="50505C"/>
                      </a:solidFill>
                      <a:prstDash val="solid"/>
                      <a:round/>
                      <a:headEnd type="none" w="med" len="med"/>
                      <a:tailEnd type="none" w="med" len="med"/>
                    </a:lnT>
                    <a:lnB w="12700" cap="flat" cmpd="sng" algn="ctr">
                      <a:solidFill>
                        <a:srgbClr val="50505C"/>
                      </a:solidFill>
                      <a:prstDash val="solid"/>
                      <a:round/>
                      <a:headEnd type="none" w="med" len="med"/>
                      <a:tailEnd type="none" w="med" len="med"/>
                    </a:lnB>
                    <a:solidFill>
                      <a:srgbClr val="3A3A46"/>
                    </a:solidFill>
                  </a:tcPr>
                </a:tc>
              </a:tr>
            </a:tbl>
          </a:graphicData>
        </a:graphic>
      </p:graphicFrame>
      <p:sp>
        <p:nvSpPr>
          <p:cNvPr id="6" name="Shape 3"/>
          <p:cNvSpPr/>
          <p:nvPr/>
        </p:nvSpPr>
        <p:spPr>
          <a:xfrm>
            <a:off x="566928" y="4297680"/>
            <a:ext cx="5349240" cy="1883664"/>
          </a:xfrm>
          <a:prstGeom prst="rect">
            <a:avLst/>
          </a:prstGeom>
          <a:solidFill>
            <a:srgbClr val="3A3A46"/>
          </a:solidFill>
          <a:ln w="12700">
            <a:solidFill>
              <a:srgbClr val="50505C"/>
            </a:solidFill>
            <a:prstDash val="solid"/>
          </a:ln>
        </p:spPr>
      </p:sp>
      <p:sp>
        <p:nvSpPr>
          <p:cNvPr id="7" name="Shape 4"/>
          <p:cNvSpPr/>
          <p:nvPr/>
        </p:nvSpPr>
        <p:spPr>
          <a:xfrm>
            <a:off x="566928" y="4297680"/>
            <a:ext cx="54864" cy="1883664"/>
          </a:xfrm>
          <a:prstGeom prst="rect">
            <a:avLst/>
          </a:prstGeom>
          <a:solidFill>
            <a:srgbClr val="FFE600"/>
          </a:solidFill>
          <a:ln w="12700">
            <a:solidFill>
              <a:srgbClr val="333333"/>
            </a:solidFill>
            <a:prstDash val="solid"/>
          </a:ln>
        </p:spPr>
      </p:sp>
      <p:sp>
        <p:nvSpPr>
          <p:cNvPr id="8" name="Text 5"/>
          <p:cNvSpPr/>
          <p:nvPr/>
        </p:nvSpPr>
        <p:spPr>
          <a:xfrm>
            <a:off x="896112" y="4535424"/>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gap we walk into</a:t>
            </a:r>
            <a:endParaRPr lang="en-US" sz="1500" dirty="0"/>
          </a:p>
        </p:txBody>
      </p:sp>
      <p:sp>
        <p:nvSpPr>
          <p:cNvPr id="9" name="Text 6"/>
          <p:cNvSpPr/>
          <p:nvPr/>
        </p:nvSpPr>
        <p:spPr>
          <a:xfrm>
            <a:off x="896112" y="4882896"/>
            <a:ext cx="4754880" cy="1097280"/>
          </a:xfrm>
          <a:prstGeom prst="rect">
            <a:avLst/>
          </a:prstGeom>
          <a:noFill/>
          <a:ln/>
        </p:spPr>
        <p:txBody>
          <a:bodyPr wrap="square" lIns="0" tIns="0" rIns="0" bIns="0" rtlCol="0" anchor="ctr"/>
          <a:lstStyle/>
          <a:p>
            <a:pPr indent="0" marL="0">
              <a:lnSpc>
                <a:spcPts val="1860"/>
              </a:lnSpc>
              <a:buNone/>
            </a:pPr>
            <a:r>
              <a:rPr lang="en-US" sz="1200" dirty="0">
                <a:solidFill>
                  <a:srgbClr val="C4C4CD"/>
                </a:solidFill>
                <a:latin typeface="Arial" pitchFamily="34" charset="0"/>
                <a:ea typeface="Arial" pitchFamily="34" charset="-122"/>
                <a:cs typeface="Arial" pitchFamily="34" charset="-120"/>
              </a:rPr>
              <a:t>The impressive new tools assume you already run Kubernetes and spend six figures a year watching it. Everyone else — a company with servers and laptops and no platform team — gets nothing.</a:t>
            </a:r>
            <a:endParaRPr lang="en-US" sz="1200" dirty="0"/>
          </a:p>
        </p:txBody>
      </p:sp>
      <p:sp>
        <p:nvSpPr>
          <p:cNvPr id="10" name="Shape 7"/>
          <p:cNvSpPr/>
          <p:nvPr/>
        </p:nvSpPr>
        <p:spPr>
          <a:xfrm>
            <a:off x="6099048" y="4297680"/>
            <a:ext cx="5349240" cy="1883664"/>
          </a:xfrm>
          <a:prstGeom prst="rect">
            <a:avLst/>
          </a:prstGeom>
          <a:solidFill>
            <a:srgbClr val="3A3A46"/>
          </a:solidFill>
          <a:ln w="12700">
            <a:solidFill>
              <a:srgbClr val="50505C"/>
            </a:solidFill>
            <a:prstDash val="solid"/>
          </a:ln>
        </p:spPr>
      </p:sp>
      <p:sp>
        <p:nvSpPr>
          <p:cNvPr id="11" name="Text 8"/>
          <p:cNvSpPr/>
          <p:nvPr/>
        </p:nvSpPr>
        <p:spPr>
          <a:xfrm>
            <a:off x="6419088" y="4535424"/>
            <a:ext cx="457200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What we need to run</a:t>
            </a:r>
            <a:endParaRPr lang="en-US" sz="1500" dirty="0"/>
          </a:p>
        </p:txBody>
      </p:sp>
      <p:sp>
        <p:nvSpPr>
          <p:cNvPr id="12" name="Text 9"/>
          <p:cNvSpPr/>
          <p:nvPr/>
        </p:nvSpPr>
        <p:spPr>
          <a:xfrm>
            <a:off x="6419088" y="4882896"/>
            <a:ext cx="4754880" cy="457200"/>
          </a:xfrm>
          <a:prstGeom prst="rect">
            <a:avLst/>
          </a:prstGeom>
          <a:noFill/>
          <a:ln/>
        </p:spPr>
        <p:txBody>
          <a:bodyPr wrap="square" lIns="0" tIns="0" rIns="0" bIns="0" rtlCol="0" anchor="ctr"/>
          <a:lstStyle/>
          <a:p>
            <a:pPr indent="0" marL="0">
              <a:buNone/>
            </a:pPr>
            <a:r>
              <a:rPr lang="en-US" sz="2600" b="1" dirty="0">
                <a:solidFill>
                  <a:srgbClr val="FFE600"/>
                </a:solidFill>
                <a:latin typeface="Arial" pitchFamily="34" charset="0"/>
                <a:ea typeface="Arial" pitchFamily="34" charset="-122"/>
                <a:cs typeface="Arial" pitchFamily="34" charset="-120"/>
              </a:rPr>
              <a:t>A computer.</a:t>
            </a:r>
            <a:endParaRPr lang="en-US" sz="2600" dirty="0"/>
          </a:p>
        </p:txBody>
      </p:sp>
      <p:sp>
        <p:nvSpPr>
          <p:cNvPr id="13" name="Text 10"/>
          <p:cNvSpPr/>
          <p:nvPr/>
        </p:nvSpPr>
        <p:spPr>
          <a:xfrm>
            <a:off x="6419088" y="5394960"/>
            <a:ext cx="4754880" cy="64008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No cluster, no monitoring platform, no data pipeline. That is the difference between a product for a hundred companies and one for a hundred thousand.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HONEST POSITION</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What we do better — and what we do not do yet</a:t>
            </a:r>
            <a:endParaRPr lang="en-US" sz="3000" dirty="0"/>
          </a:p>
        </p:txBody>
      </p:sp>
      <p:sp>
        <p:nvSpPr>
          <p:cNvPr id="5" name="Shape 3"/>
          <p:cNvSpPr/>
          <p:nvPr/>
        </p:nvSpPr>
        <p:spPr>
          <a:xfrm>
            <a:off x="566928" y="1700784"/>
            <a:ext cx="5349240" cy="54864"/>
          </a:xfrm>
          <a:prstGeom prst="rect">
            <a:avLst/>
          </a:prstGeom>
          <a:solidFill>
            <a:srgbClr val="FFE600"/>
          </a:solidFill>
          <a:ln w="12700">
            <a:solidFill>
              <a:srgbClr val="333333"/>
            </a:solidFill>
            <a:prstDash val="solid"/>
          </a:ln>
        </p:spPr>
      </p:sp>
      <p:sp>
        <p:nvSpPr>
          <p:cNvPr id="6" name="Text 4"/>
          <p:cNvSpPr/>
          <p:nvPr/>
        </p:nvSpPr>
        <p:spPr>
          <a:xfrm>
            <a:off x="566928" y="1847088"/>
            <a:ext cx="4572000" cy="237744"/>
          </a:xfrm>
          <a:prstGeom prst="rect">
            <a:avLst/>
          </a:prstGeom>
          <a:noFill/>
          <a:ln/>
        </p:spPr>
        <p:txBody>
          <a:bodyPr wrap="square" lIns="0" tIns="0" rIns="0" bIns="0" rtlCol="0" anchor="ctr"/>
          <a:lstStyle/>
          <a:p>
            <a:pPr indent="0" marL="0">
              <a:buNone/>
            </a:pPr>
            <a:r>
              <a:rPr lang="en-US" sz="1050" b="1" spc="180" kern="0" dirty="0">
                <a:solidFill>
                  <a:srgbClr val="FFE600"/>
                </a:solidFill>
                <a:latin typeface="Arial" pitchFamily="34" charset="0"/>
                <a:ea typeface="Arial" pitchFamily="34" charset="-122"/>
                <a:cs typeface="Arial" pitchFamily="34" charset="-120"/>
              </a:rPr>
              <a:t>WHAT WE DO BETTER</a:t>
            </a:r>
            <a:endParaRPr lang="en-US" sz="1050" dirty="0"/>
          </a:p>
        </p:txBody>
      </p:sp>
      <p:sp>
        <p:nvSpPr>
          <p:cNvPr id="7" name="Text 5"/>
          <p:cNvSpPr/>
          <p:nvPr/>
        </p:nvSpPr>
        <p:spPr>
          <a:xfrm>
            <a:off x="566928" y="2194560"/>
            <a:ext cx="512064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We actually fix things</a:t>
            </a:r>
            <a:endParaRPr lang="en-US" sz="1350" dirty="0"/>
          </a:p>
        </p:txBody>
      </p:sp>
      <p:sp>
        <p:nvSpPr>
          <p:cNvPr id="8" name="Text 6"/>
          <p:cNvSpPr/>
          <p:nvPr/>
        </p:nvSpPr>
        <p:spPr>
          <a:xfrm>
            <a:off x="566928" y="2468880"/>
            <a:ext cx="521208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The best-funded competitor is deliberately read-only. It investigates and hands the problem back.</a:t>
            </a:r>
            <a:endParaRPr lang="en-US" sz="1100" dirty="0"/>
          </a:p>
        </p:txBody>
      </p:sp>
      <p:sp>
        <p:nvSpPr>
          <p:cNvPr id="9" name="Text 7"/>
          <p:cNvSpPr/>
          <p:nvPr/>
        </p:nvSpPr>
        <p:spPr>
          <a:xfrm>
            <a:off x="566928" y="3200400"/>
            <a:ext cx="512064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We need almost nothing</a:t>
            </a:r>
            <a:endParaRPr lang="en-US" sz="1350" dirty="0"/>
          </a:p>
        </p:txBody>
      </p:sp>
      <p:sp>
        <p:nvSpPr>
          <p:cNvPr id="10" name="Text 8"/>
          <p:cNvSpPr/>
          <p:nvPr/>
        </p:nvSpPr>
        <p:spPr>
          <a:xfrm>
            <a:off x="566928" y="3474720"/>
            <a:ext cx="521208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No cluster, no monitoring platform. It runs against a plain machine.</a:t>
            </a:r>
            <a:endParaRPr lang="en-US" sz="1100" dirty="0"/>
          </a:p>
        </p:txBody>
      </p:sp>
      <p:sp>
        <p:nvSpPr>
          <p:cNvPr id="11" name="Text 9"/>
          <p:cNvSpPr/>
          <p:nvPr/>
        </p:nvSpPr>
        <p:spPr>
          <a:xfrm>
            <a:off x="566928" y="4206240"/>
            <a:ext cx="512064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Built for many machines</a:t>
            </a:r>
            <a:endParaRPr lang="en-US" sz="1350" dirty="0"/>
          </a:p>
        </p:txBody>
      </p:sp>
      <p:sp>
        <p:nvSpPr>
          <p:cNvPr id="12" name="Text 10"/>
          <p:cNvSpPr/>
          <p:nvPr/>
        </p:nvSpPr>
        <p:spPr>
          <a:xfrm>
            <a:off x="566928" y="4480560"/>
            <a:ext cx="521208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Three ways to reach a host behind one interface — including through a firewall, with nothing opened.</a:t>
            </a:r>
            <a:endParaRPr lang="en-US" sz="1100" dirty="0"/>
          </a:p>
        </p:txBody>
      </p:sp>
      <p:sp>
        <p:nvSpPr>
          <p:cNvPr id="13" name="Text 11"/>
          <p:cNvSpPr/>
          <p:nvPr/>
        </p:nvSpPr>
        <p:spPr>
          <a:xfrm>
            <a:off x="566928" y="5212080"/>
            <a:ext cx="512064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Nothing is hidden</a:t>
            </a:r>
            <a:endParaRPr lang="en-US" sz="1350" dirty="0"/>
          </a:p>
        </p:txBody>
      </p:sp>
      <p:sp>
        <p:nvSpPr>
          <p:cNvPr id="14" name="Text 12"/>
          <p:cNvSpPr/>
          <p:nvPr/>
        </p:nvSpPr>
        <p:spPr>
          <a:xfrm>
            <a:off x="566928" y="5486400"/>
            <a:ext cx="521208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Every check and every result is on screen. In a trust-limited market, that is the product.</a:t>
            </a:r>
            <a:endParaRPr lang="en-US" sz="1100" dirty="0"/>
          </a:p>
        </p:txBody>
      </p:sp>
      <p:sp>
        <p:nvSpPr>
          <p:cNvPr id="15" name="Shape 13"/>
          <p:cNvSpPr/>
          <p:nvPr/>
        </p:nvSpPr>
        <p:spPr>
          <a:xfrm>
            <a:off x="6099048" y="1700784"/>
            <a:ext cx="5349240" cy="54864"/>
          </a:xfrm>
          <a:prstGeom prst="rect">
            <a:avLst/>
          </a:prstGeom>
          <a:solidFill>
            <a:srgbClr val="50505C"/>
          </a:solidFill>
          <a:ln w="12700">
            <a:solidFill>
              <a:srgbClr val="333333"/>
            </a:solidFill>
            <a:prstDash val="solid"/>
          </a:ln>
        </p:spPr>
      </p:sp>
      <p:sp>
        <p:nvSpPr>
          <p:cNvPr id="16" name="Text 14"/>
          <p:cNvSpPr/>
          <p:nvPr/>
        </p:nvSpPr>
        <p:spPr>
          <a:xfrm>
            <a:off x="6099048" y="1847088"/>
            <a:ext cx="5303520" cy="237744"/>
          </a:xfrm>
          <a:prstGeom prst="rect">
            <a:avLst/>
          </a:prstGeom>
          <a:noFill/>
          <a:ln/>
        </p:spPr>
        <p:txBody>
          <a:bodyPr wrap="square" lIns="0" tIns="0" rIns="0" bIns="0" rtlCol="0" anchor="ctr"/>
          <a:lstStyle/>
          <a:p>
            <a:pPr indent="0" marL="0">
              <a:buNone/>
            </a:pPr>
            <a:r>
              <a:rPr lang="en-US" sz="1050" b="1" spc="180" kern="0" dirty="0">
                <a:solidFill>
                  <a:srgbClr val="8B8B98"/>
                </a:solidFill>
                <a:latin typeface="Arial" pitchFamily="34" charset="0"/>
                <a:ea typeface="Arial" pitchFamily="34" charset="-122"/>
                <a:cs typeface="Arial" pitchFamily="34" charset="-120"/>
              </a:rPr>
              <a:t>WHAT WE DO NOT — AND THE HONEST ANSWER</a:t>
            </a:r>
            <a:endParaRPr lang="en-US" sz="1050" dirty="0"/>
          </a:p>
        </p:txBody>
      </p:sp>
      <p:sp>
        <p:nvSpPr>
          <p:cNvPr id="17" name="Text 15"/>
          <p:cNvSpPr/>
          <p:nvPr/>
        </p:nvSpPr>
        <p:spPr>
          <a:xfrm>
            <a:off x="6099048" y="2194560"/>
            <a:ext cx="5212080" cy="292608"/>
          </a:xfrm>
          <a:prstGeom prst="rect">
            <a:avLst/>
          </a:prstGeom>
          <a:noFill/>
          <a:ln/>
        </p:spPr>
        <p:txBody>
          <a:bodyPr wrap="square" lIns="0" tIns="0" rIns="0" bIns="0" rtlCol="0" anchor="ctr"/>
          <a:lstStyle/>
          <a:p>
            <a:pPr indent="0" marL="0">
              <a:buNone/>
            </a:pPr>
            <a:r>
              <a:rPr lang="en-US" sz="1350" b="1" dirty="0">
                <a:solidFill>
                  <a:srgbClr val="C4C4CD"/>
                </a:solidFill>
                <a:latin typeface="Arial" pitchFamily="34" charset="0"/>
                <a:ea typeface="Arial" pitchFamily="34" charset="-122"/>
                <a:cs typeface="Arial" pitchFamily="34" charset="-120"/>
              </a:rPr>
              <a:t>One machine at a time</a:t>
            </a:r>
            <a:endParaRPr lang="en-US" sz="1350" dirty="0"/>
          </a:p>
        </p:txBody>
      </p:sp>
      <p:sp>
        <p:nvSpPr>
          <p:cNvPr id="18" name="Text 16"/>
          <p:cNvSpPr/>
          <p:nvPr/>
        </p:nvSpPr>
        <p:spPr>
          <a:xfrm>
            <a:off x="6099048" y="2468880"/>
            <a:ext cx="530352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It cannot yet connect a fault on one server to a cause on another. The groundwork is built; the reasoning is not.</a:t>
            </a:r>
            <a:endParaRPr lang="en-US" sz="1100" dirty="0"/>
          </a:p>
        </p:txBody>
      </p:sp>
      <p:sp>
        <p:nvSpPr>
          <p:cNvPr id="19" name="Text 17"/>
          <p:cNvSpPr/>
          <p:nvPr/>
        </p:nvSpPr>
        <p:spPr>
          <a:xfrm>
            <a:off x="6099048" y="3200400"/>
            <a:ext cx="5212080" cy="292608"/>
          </a:xfrm>
          <a:prstGeom prst="rect">
            <a:avLst/>
          </a:prstGeom>
          <a:noFill/>
          <a:ln/>
        </p:spPr>
        <p:txBody>
          <a:bodyPr wrap="square" lIns="0" tIns="0" rIns="0" bIns="0" rtlCol="0" anchor="ctr"/>
          <a:lstStyle/>
          <a:p>
            <a:pPr indent="0" marL="0">
              <a:buNone/>
            </a:pPr>
            <a:r>
              <a:rPr lang="en-US" sz="1350" b="1" dirty="0">
                <a:solidFill>
                  <a:srgbClr val="C4C4CD"/>
                </a:solidFill>
                <a:latin typeface="Arial" pitchFamily="34" charset="0"/>
                <a:ea typeface="Arial" pitchFamily="34" charset="-122"/>
                <a:cs typeface="Arial" pitchFamily="34" charset="-120"/>
              </a:rPr>
              <a:t>Logs come from files</a:t>
            </a:r>
            <a:endParaRPr lang="en-US" sz="1350" dirty="0"/>
          </a:p>
        </p:txBody>
      </p:sp>
      <p:sp>
        <p:nvSpPr>
          <p:cNvPr id="20" name="Text 18"/>
          <p:cNvSpPr/>
          <p:nvPr/>
        </p:nvSpPr>
        <p:spPr>
          <a:xfrm>
            <a:off x="6099048" y="3474720"/>
            <a:ext cx="530352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Not yet from the big logging platforms. That is a connector, not a redesign.</a:t>
            </a:r>
            <a:endParaRPr lang="en-US" sz="1100" dirty="0"/>
          </a:p>
        </p:txBody>
      </p:sp>
      <p:sp>
        <p:nvSpPr>
          <p:cNvPr id="21" name="Text 19"/>
          <p:cNvSpPr/>
          <p:nvPr/>
        </p:nvSpPr>
        <p:spPr>
          <a:xfrm>
            <a:off x="6099048" y="4206240"/>
            <a:ext cx="5212080" cy="292608"/>
          </a:xfrm>
          <a:prstGeom prst="rect">
            <a:avLst/>
          </a:prstGeom>
          <a:noFill/>
          <a:ln/>
        </p:spPr>
        <p:txBody>
          <a:bodyPr wrap="square" lIns="0" tIns="0" rIns="0" bIns="0" rtlCol="0" anchor="ctr"/>
          <a:lstStyle/>
          <a:p>
            <a:pPr indent="0" marL="0">
              <a:buNone/>
            </a:pPr>
            <a:r>
              <a:rPr lang="en-US" sz="1350" b="1" dirty="0">
                <a:solidFill>
                  <a:srgbClr val="C4C4CD"/>
                </a:solidFill>
                <a:latin typeface="Arial" pitchFamily="34" charset="0"/>
                <a:ea typeface="Arial" pitchFamily="34" charset="-122"/>
                <a:cs typeface="Arial" pitchFamily="34" charset="-120"/>
              </a:rPr>
              <a:t>Only one specialist can act</a:t>
            </a:r>
            <a:endParaRPr lang="en-US" sz="1350" dirty="0"/>
          </a:p>
        </p:txBody>
      </p:sp>
      <p:sp>
        <p:nvSpPr>
          <p:cNvPr id="22" name="Text 20"/>
          <p:cNvSpPr/>
          <p:nvPr/>
        </p:nvSpPr>
        <p:spPr>
          <a:xfrm>
            <a:off x="6099048" y="4480560"/>
            <a:ext cx="530352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Said plainly: one area done properly beats four claimed.</a:t>
            </a:r>
            <a:endParaRPr lang="en-US" sz="1100" dirty="0"/>
          </a:p>
        </p:txBody>
      </p:sp>
      <p:sp>
        <p:nvSpPr>
          <p:cNvPr id="23" name="Text 21"/>
          <p:cNvSpPr/>
          <p:nvPr/>
        </p:nvSpPr>
        <p:spPr>
          <a:xfrm>
            <a:off x="6099048" y="5212080"/>
            <a:ext cx="5212080" cy="292608"/>
          </a:xfrm>
          <a:prstGeom prst="rect">
            <a:avLst/>
          </a:prstGeom>
          <a:noFill/>
          <a:ln/>
        </p:spPr>
        <p:txBody>
          <a:bodyPr wrap="square" lIns="0" tIns="0" rIns="0" bIns="0" rtlCol="0" anchor="ctr"/>
          <a:lstStyle/>
          <a:p>
            <a:pPr indent="0" marL="0">
              <a:buNone/>
            </a:pPr>
            <a:r>
              <a:rPr lang="en-US" sz="1350" b="1" dirty="0">
                <a:solidFill>
                  <a:srgbClr val="C4C4CD"/>
                </a:solidFill>
                <a:latin typeface="Arial" pitchFamily="34" charset="0"/>
                <a:ea typeface="Arial" pitchFamily="34" charset="-122"/>
                <a:cs typeface="Arial" pitchFamily="34" charset="-120"/>
              </a:rPr>
              <a:t>No accuracy score</a:t>
            </a:r>
            <a:endParaRPr lang="en-US" sz="1350" dirty="0"/>
          </a:p>
        </p:txBody>
      </p:sp>
      <p:sp>
        <p:nvSpPr>
          <p:cNvPr id="24" name="Text 22"/>
          <p:cNvSpPr/>
          <p:nvPr/>
        </p:nvSpPr>
        <p:spPr>
          <a:xfrm>
            <a:off x="6099048" y="5486400"/>
            <a:ext cx="5303520" cy="640080"/>
          </a:xfrm>
          <a:prstGeom prst="rect">
            <a:avLst/>
          </a:prstGeom>
          <a:noFill/>
          <a:ln/>
        </p:spPr>
        <p:txBody>
          <a:bodyPr wrap="square" lIns="0" tIns="0" rIns="0" bIns="0" rtlCol="0" anchor="ctr"/>
          <a:lstStyle/>
          <a:p>
            <a:pPr indent="0" marL="0">
              <a:lnSpc>
                <a:spcPts val="1705"/>
              </a:lnSpc>
              <a:buNone/>
            </a:pPr>
            <a:r>
              <a:rPr lang="en-US" sz="1100" dirty="0">
                <a:solidFill>
                  <a:srgbClr val="C4C4CD"/>
                </a:solidFill>
                <a:latin typeface="Arial" pitchFamily="34" charset="0"/>
                <a:ea typeface="Arial" pitchFamily="34" charset="-122"/>
                <a:cs typeface="Arial" pitchFamily="34" charset="-120"/>
              </a:rPr>
              <a:t>Nor does anyone else, verifiably. Rivals' figures are their own marketing, with no independent test.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2E38"/>
        </a:solidFill>
      </p:bgPr>
    </p:bg>
    <p:spTree>
      <p:nvGrpSpPr>
        <p:cNvPr id="1" name=""/>
        <p:cNvGrpSpPr/>
        <p:nvPr/>
      </p:nvGrpSpPr>
      <p:grpSpPr>
        <a:xfrm>
          <a:off x="0" y="0"/>
          <a:ext cx="0" cy="0"/>
          <a:chOff x="0" y="0"/>
          <a:chExt cx="0" cy="0"/>
        </a:xfrm>
      </p:grpSpPr>
      <p:sp>
        <p:nvSpPr>
          <p:cNvPr id="2" name="Shape 0"/>
          <p:cNvSpPr/>
          <p:nvPr/>
        </p:nvSpPr>
        <p:spPr>
          <a:xfrm>
            <a:off x="566928" y="402336"/>
            <a:ext cx="420624" cy="82296"/>
          </a:xfrm>
          <a:prstGeom prst="rect">
            <a:avLst/>
          </a:prstGeom>
          <a:solidFill>
            <a:srgbClr val="FFE600"/>
          </a:solidFill>
          <a:ln w="12700">
            <a:solidFill>
              <a:srgbClr val="333333"/>
            </a:solidFill>
            <a:prstDash val="solid"/>
          </a:ln>
        </p:spPr>
      </p:sp>
      <p:sp>
        <p:nvSpPr>
          <p:cNvPr id="3" name="Text 1"/>
          <p:cNvSpPr/>
          <p:nvPr/>
        </p:nvSpPr>
        <p:spPr>
          <a:xfrm>
            <a:off x="566928" y="566928"/>
            <a:ext cx="8229600" cy="237744"/>
          </a:xfrm>
          <a:prstGeom prst="rect">
            <a:avLst/>
          </a:prstGeom>
          <a:noFill/>
          <a:ln/>
        </p:spPr>
        <p:txBody>
          <a:bodyPr wrap="square" lIns="0" tIns="0" rIns="0" bIns="0" rtlCol="0" anchor="ctr"/>
          <a:lstStyle/>
          <a:p>
            <a:pPr indent="0" marL="0">
              <a:buNone/>
            </a:pPr>
            <a:r>
              <a:rPr lang="en-US" sz="1050" b="1" spc="220" kern="0" dirty="0">
                <a:solidFill>
                  <a:srgbClr val="FFE600"/>
                </a:solidFill>
                <a:latin typeface="Arial" pitchFamily="34" charset="0"/>
                <a:ea typeface="Arial" pitchFamily="34" charset="-122"/>
                <a:cs typeface="Arial" pitchFamily="34" charset="-120"/>
              </a:rPr>
              <a:t>ROADMAP</a:t>
            </a:r>
            <a:endParaRPr lang="en-US" sz="1050" dirty="0"/>
          </a:p>
        </p:txBody>
      </p:sp>
      <p:sp>
        <p:nvSpPr>
          <p:cNvPr id="4" name="Text 2"/>
          <p:cNvSpPr/>
          <p:nvPr/>
        </p:nvSpPr>
        <p:spPr>
          <a:xfrm>
            <a:off x="548640" y="841248"/>
            <a:ext cx="1078992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Ordered by what a real customer would hit first</a:t>
            </a:r>
            <a:endParaRPr lang="en-US" sz="3000" dirty="0"/>
          </a:p>
        </p:txBody>
      </p:sp>
      <p:sp>
        <p:nvSpPr>
          <p:cNvPr id="5" name="Shape 3"/>
          <p:cNvSpPr/>
          <p:nvPr/>
        </p:nvSpPr>
        <p:spPr>
          <a:xfrm>
            <a:off x="566928" y="1792224"/>
            <a:ext cx="10881360" cy="1005840"/>
          </a:xfrm>
          <a:prstGeom prst="rect">
            <a:avLst/>
          </a:prstGeom>
          <a:solidFill>
            <a:srgbClr val="3A3A46"/>
          </a:solidFill>
          <a:ln w="12700">
            <a:solidFill>
              <a:srgbClr val="50505C"/>
            </a:solidFill>
            <a:prstDash val="solid"/>
          </a:ln>
        </p:spPr>
      </p:sp>
      <p:sp>
        <p:nvSpPr>
          <p:cNvPr id="6" name="Shape 4"/>
          <p:cNvSpPr/>
          <p:nvPr/>
        </p:nvSpPr>
        <p:spPr>
          <a:xfrm>
            <a:off x="566928" y="1792224"/>
            <a:ext cx="54864" cy="1005840"/>
          </a:xfrm>
          <a:prstGeom prst="rect">
            <a:avLst/>
          </a:prstGeom>
          <a:solidFill>
            <a:srgbClr val="FFE600"/>
          </a:solidFill>
          <a:ln w="12700">
            <a:solidFill>
              <a:srgbClr val="333333"/>
            </a:solidFill>
            <a:prstDash val="solid"/>
          </a:ln>
        </p:spPr>
      </p:sp>
      <p:sp>
        <p:nvSpPr>
          <p:cNvPr id="7" name="Text 5"/>
          <p:cNvSpPr/>
          <p:nvPr/>
        </p:nvSpPr>
        <p:spPr>
          <a:xfrm>
            <a:off x="896112" y="2103120"/>
            <a:ext cx="731520" cy="402336"/>
          </a:xfrm>
          <a:prstGeom prst="rect">
            <a:avLst/>
          </a:prstGeom>
          <a:noFill/>
          <a:ln/>
        </p:spPr>
        <p:txBody>
          <a:bodyPr wrap="square" lIns="0" tIns="0" rIns="0" bIns="0" rtlCol="0" anchor="ctr"/>
          <a:lstStyle/>
          <a:p>
            <a:pPr indent="0" marL="0">
              <a:buNone/>
            </a:pPr>
            <a:r>
              <a:rPr lang="en-US" sz="2200" b="1" dirty="0">
                <a:solidFill>
                  <a:srgbClr val="FFE600"/>
                </a:solidFill>
                <a:latin typeface="Arial" pitchFamily="34" charset="0"/>
                <a:ea typeface="Arial" pitchFamily="34" charset="-122"/>
                <a:cs typeface="Arial" pitchFamily="34" charset="-120"/>
              </a:rPr>
              <a:t>01</a:t>
            </a:r>
            <a:endParaRPr lang="en-US" sz="2200" dirty="0"/>
          </a:p>
        </p:txBody>
      </p:sp>
      <p:sp>
        <p:nvSpPr>
          <p:cNvPr id="8" name="Text 6"/>
          <p:cNvSpPr/>
          <p:nvPr/>
        </p:nvSpPr>
        <p:spPr>
          <a:xfrm>
            <a:off x="1737360" y="1975104"/>
            <a:ext cx="21945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Harden</a:t>
            </a:r>
            <a:endParaRPr lang="en-US" sz="1500" dirty="0"/>
          </a:p>
        </p:txBody>
      </p:sp>
      <p:sp>
        <p:nvSpPr>
          <p:cNvPr id="9" name="Text 7"/>
          <p:cNvSpPr/>
          <p:nvPr/>
        </p:nvSpPr>
        <p:spPr>
          <a:xfrm>
            <a:off x="4023360" y="1956816"/>
            <a:ext cx="7315200" cy="73152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Refuse to start without proper encryption configured, rather than quietly falling back. Verify a machine's identity on first contact. Retry the one failure we have actually seen in testing.</a:t>
            </a:r>
            <a:endParaRPr lang="en-US" sz="1150" dirty="0"/>
          </a:p>
        </p:txBody>
      </p:sp>
      <p:sp>
        <p:nvSpPr>
          <p:cNvPr id="10" name="Shape 8"/>
          <p:cNvSpPr/>
          <p:nvPr/>
        </p:nvSpPr>
        <p:spPr>
          <a:xfrm>
            <a:off x="566928" y="2962656"/>
            <a:ext cx="10881360" cy="1005840"/>
          </a:xfrm>
          <a:prstGeom prst="rect">
            <a:avLst/>
          </a:prstGeom>
          <a:solidFill>
            <a:srgbClr val="3A3A46"/>
          </a:solidFill>
          <a:ln w="12700">
            <a:solidFill>
              <a:srgbClr val="50505C"/>
            </a:solidFill>
            <a:prstDash val="solid"/>
          </a:ln>
        </p:spPr>
      </p:sp>
      <p:sp>
        <p:nvSpPr>
          <p:cNvPr id="11" name="Text 9"/>
          <p:cNvSpPr/>
          <p:nvPr/>
        </p:nvSpPr>
        <p:spPr>
          <a:xfrm>
            <a:off x="896112" y="3273552"/>
            <a:ext cx="731520" cy="402336"/>
          </a:xfrm>
          <a:prstGeom prst="rect">
            <a:avLst/>
          </a:prstGeom>
          <a:noFill/>
          <a:ln/>
        </p:spPr>
        <p:txBody>
          <a:bodyPr wrap="square" lIns="0" tIns="0" rIns="0" bIns="0" rtlCol="0" anchor="ctr"/>
          <a:lstStyle/>
          <a:p>
            <a:pPr indent="0" marL="0">
              <a:buNone/>
            </a:pPr>
            <a:r>
              <a:rPr lang="en-US" sz="2200" b="1" dirty="0">
                <a:solidFill>
                  <a:srgbClr val="FFE600"/>
                </a:solidFill>
                <a:latin typeface="Arial" pitchFamily="34" charset="0"/>
                <a:ea typeface="Arial" pitchFamily="34" charset="-122"/>
                <a:cs typeface="Arial" pitchFamily="34" charset="-120"/>
              </a:rPr>
              <a:t>02</a:t>
            </a:r>
            <a:endParaRPr lang="en-US" sz="2200" dirty="0"/>
          </a:p>
        </p:txBody>
      </p:sp>
      <p:sp>
        <p:nvSpPr>
          <p:cNvPr id="12" name="Text 10"/>
          <p:cNvSpPr/>
          <p:nvPr/>
        </p:nvSpPr>
        <p:spPr>
          <a:xfrm>
            <a:off x="1737360" y="3145536"/>
            <a:ext cx="21945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Connect</a:t>
            </a:r>
            <a:endParaRPr lang="en-US" sz="1500" dirty="0"/>
          </a:p>
        </p:txBody>
      </p:sp>
      <p:sp>
        <p:nvSpPr>
          <p:cNvPr id="13" name="Text 11"/>
          <p:cNvSpPr/>
          <p:nvPr/>
        </p:nvSpPr>
        <p:spPr>
          <a:xfrm>
            <a:off x="4023360" y="3127248"/>
            <a:ext cx="7315200" cy="73152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Plug into the logging tools companies already use. Turn a verdict into a ticket. Stream progress live instead of estimating it.</a:t>
            </a:r>
            <a:endParaRPr lang="en-US" sz="1150" dirty="0"/>
          </a:p>
        </p:txBody>
      </p:sp>
      <p:sp>
        <p:nvSpPr>
          <p:cNvPr id="14" name="Shape 12"/>
          <p:cNvSpPr/>
          <p:nvPr/>
        </p:nvSpPr>
        <p:spPr>
          <a:xfrm>
            <a:off x="566928" y="4133088"/>
            <a:ext cx="10881360" cy="1005840"/>
          </a:xfrm>
          <a:prstGeom prst="rect">
            <a:avLst/>
          </a:prstGeom>
          <a:solidFill>
            <a:srgbClr val="3A3A46"/>
          </a:solidFill>
          <a:ln w="12700">
            <a:solidFill>
              <a:srgbClr val="50505C"/>
            </a:solidFill>
            <a:prstDash val="solid"/>
          </a:ln>
        </p:spPr>
      </p:sp>
      <p:sp>
        <p:nvSpPr>
          <p:cNvPr id="15" name="Text 13"/>
          <p:cNvSpPr/>
          <p:nvPr/>
        </p:nvSpPr>
        <p:spPr>
          <a:xfrm>
            <a:off x="896112" y="4443984"/>
            <a:ext cx="731520" cy="402336"/>
          </a:xfrm>
          <a:prstGeom prst="rect">
            <a:avLst/>
          </a:prstGeom>
          <a:noFill/>
          <a:ln/>
        </p:spPr>
        <p:txBody>
          <a:bodyPr wrap="square" lIns="0" tIns="0" rIns="0" bIns="0" rtlCol="0" anchor="ctr"/>
          <a:lstStyle/>
          <a:p>
            <a:pPr indent="0" marL="0">
              <a:buNone/>
            </a:pPr>
            <a:r>
              <a:rPr lang="en-US" sz="2200" b="1" dirty="0">
                <a:solidFill>
                  <a:srgbClr val="FFE600"/>
                </a:solidFill>
                <a:latin typeface="Arial" pitchFamily="34" charset="0"/>
                <a:ea typeface="Arial" pitchFamily="34" charset="-122"/>
                <a:cs typeface="Arial" pitchFamily="34" charset="-120"/>
              </a:rPr>
              <a:t>03</a:t>
            </a:r>
            <a:endParaRPr lang="en-US" sz="2200" dirty="0"/>
          </a:p>
        </p:txBody>
      </p:sp>
      <p:sp>
        <p:nvSpPr>
          <p:cNvPr id="16" name="Text 14"/>
          <p:cNvSpPr/>
          <p:nvPr/>
        </p:nvSpPr>
        <p:spPr>
          <a:xfrm>
            <a:off x="1737360" y="4315968"/>
            <a:ext cx="21945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Connect the dots</a:t>
            </a:r>
            <a:endParaRPr lang="en-US" sz="1500" dirty="0"/>
          </a:p>
        </p:txBody>
      </p:sp>
      <p:sp>
        <p:nvSpPr>
          <p:cNvPr id="17" name="Text 15"/>
          <p:cNvSpPr/>
          <p:nvPr/>
        </p:nvSpPr>
        <p:spPr>
          <a:xfrm>
            <a:off x="4023360" y="4297680"/>
            <a:ext cx="7315200" cy="73152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Reason across machines, not one at a time. This is where the most valuable claim in the market sits, and where the groundwork already points.</a:t>
            </a:r>
            <a:endParaRPr lang="en-US" sz="1150" dirty="0"/>
          </a:p>
        </p:txBody>
      </p:sp>
      <p:sp>
        <p:nvSpPr>
          <p:cNvPr id="18" name="Shape 16"/>
          <p:cNvSpPr/>
          <p:nvPr/>
        </p:nvSpPr>
        <p:spPr>
          <a:xfrm>
            <a:off x="566928" y="5303520"/>
            <a:ext cx="10881360" cy="1005840"/>
          </a:xfrm>
          <a:prstGeom prst="rect">
            <a:avLst/>
          </a:prstGeom>
          <a:solidFill>
            <a:srgbClr val="3A3A46"/>
          </a:solidFill>
          <a:ln w="12700">
            <a:solidFill>
              <a:srgbClr val="50505C"/>
            </a:solidFill>
            <a:prstDash val="solid"/>
          </a:ln>
        </p:spPr>
      </p:sp>
      <p:sp>
        <p:nvSpPr>
          <p:cNvPr id="19" name="Text 17"/>
          <p:cNvSpPr/>
          <p:nvPr/>
        </p:nvSpPr>
        <p:spPr>
          <a:xfrm>
            <a:off x="896112" y="5614416"/>
            <a:ext cx="731520" cy="402336"/>
          </a:xfrm>
          <a:prstGeom prst="rect">
            <a:avLst/>
          </a:prstGeom>
          <a:noFill/>
          <a:ln/>
        </p:spPr>
        <p:txBody>
          <a:bodyPr wrap="square" lIns="0" tIns="0" rIns="0" bIns="0" rtlCol="0" anchor="ctr"/>
          <a:lstStyle/>
          <a:p>
            <a:pPr indent="0" marL="0">
              <a:buNone/>
            </a:pPr>
            <a:r>
              <a:rPr lang="en-US" sz="2200" b="1" dirty="0">
                <a:solidFill>
                  <a:srgbClr val="FFE600"/>
                </a:solidFill>
                <a:latin typeface="Arial" pitchFamily="34" charset="0"/>
                <a:ea typeface="Arial" pitchFamily="34" charset="-122"/>
                <a:cs typeface="Arial" pitchFamily="34" charset="-120"/>
              </a:rPr>
              <a:t>04</a:t>
            </a:r>
            <a:endParaRPr lang="en-US" sz="2200" dirty="0"/>
          </a:p>
        </p:txBody>
      </p:sp>
      <p:sp>
        <p:nvSpPr>
          <p:cNvPr id="20" name="Text 18"/>
          <p:cNvSpPr/>
          <p:nvPr/>
        </p:nvSpPr>
        <p:spPr>
          <a:xfrm>
            <a:off x="1737360" y="5486400"/>
            <a:ext cx="21945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Prove it</a:t>
            </a:r>
            <a:endParaRPr lang="en-US" sz="1500" dirty="0"/>
          </a:p>
        </p:txBody>
      </p:sp>
      <p:sp>
        <p:nvSpPr>
          <p:cNvPr id="21" name="Text 19"/>
          <p:cNvSpPr/>
          <p:nvPr/>
        </p:nvSpPr>
        <p:spPr>
          <a:xfrm>
            <a:off x="4023360" y="5468112"/>
            <a:ext cx="7315200" cy="731520"/>
          </a:xfrm>
          <a:prstGeom prst="rect">
            <a:avLst/>
          </a:prstGeom>
          <a:noFill/>
          <a:ln/>
        </p:spPr>
        <p:txBody>
          <a:bodyPr wrap="square" lIns="0" tIns="0" rIns="0" bIns="0" rtlCol="0" anchor="ctr"/>
          <a:lstStyle/>
          <a:p>
            <a:pPr indent="0" marL="0">
              <a:lnSpc>
                <a:spcPts val="1783"/>
              </a:lnSpc>
              <a:buNone/>
            </a:pPr>
            <a:r>
              <a:rPr lang="en-US" sz="1150" dirty="0">
                <a:solidFill>
                  <a:srgbClr val="C4C4CD"/>
                </a:solidFill>
                <a:latin typeface="Arial" pitchFamily="34" charset="0"/>
                <a:ea typeface="Arial" pitchFamily="34" charset="-122"/>
                <a:cs typeface="Arial" pitchFamily="34" charset="-120"/>
              </a:rPr>
              <a:t>A measured accuracy score on a set of known faults, with a stated method. Being the only team in the room with a defensible number is worth more than a bigger one nobody can check.</a:t>
            </a:r>
            <a:endParaRPr lang="en-US" sz="1150" dirty="0"/>
          </a:p>
        </p:txBody>
      </p:sp>
      <p:sp>
        <p:nvSpPr>
          <p:cNvPr id="22" name="Text 20"/>
          <p:cNvSpPr/>
          <p:nvPr/>
        </p:nvSpPr>
        <p:spPr>
          <a:xfrm>
            <a:off x="566928" y="6437376"/>
            <a:ext cx="10881360" cy="274320"/>
          </a:xfrm>
          <a:prstGeom prst="rect">
            <a:avLst/>
          </a:prstGeom>
          <a:noFill/>
          <a:ln/>
        </p:spPr>
        <p:txBody>
          <a:bodyPr wrap="square" lIns="0" tIns="0" rIns="0" bIns="0" rtlCol="0" anchor="ctr"/>
          <a:lstStyle/>
          <a:p>
            <a:pPr indent="0" marL="0">
              <a:buNone/>
            </a:pPr>
            <a:r>
              <a:rPr lang="en-US" sz="1050" dirty="0">
                <a:solidFill>
                  <a:srgbClr val="8B8B98"/>
                </a:solidFill>
                <a:latin typeface="Arial" pitchFamily="34" charset="0"/>
                <a:ea typeface="Arial" pitchFamily="34" charset="-122"/>
                <a:cs typeface="Arial" pitchFamily="34" charset="-120"/>
              </a:rPr>
              <a:t>Asked “what would you fix first?” — the retry. It is the one failure observed in practice, not imagined.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2E38"/>
        </a:solidFill>
      </p:bgPr>
    </p:bg>
    <p:spTree>
      <p:nvGrpSpPr>
        <p:cNvPr id="1" name=""/>
        <p:cNvGrpSpPr/>
        <p:nvPr/>
      </p:nvGrpSpPr>
      <p:grpSpPr>
        <a:xfrm>
          <a:off x="0" y="0"/>
          <a:ext cx="0" cy="0"/>
          <a:chOff x="0" y="0"/>
          <a:chExt cx="0" cy="0"/>
        </a:xfrm>
      </p:grpSpPr>
      <p:sp>
        <p:nvSpPr>
          <p:cNvPr id="2" name="Shape 0"/>
          <p:cNvSpPr/>
          <p:nvPr/>
        </p:nvSpPr>
        <p:spPr>
          <a:xfrm rot="1680000">
            <a:off x="9418320" y="-1280160"/>
            <a:ext cx="1463040" cy="5852160"/>
          </a:xfrm>
          <a:prstGeom prst="rect">
            <a:avLst/>
          </a:prstGeom>
          <a:solidFill>
            <a:srgbClr val="FFE600"/>
          </a:solidFill>
          <a:ln w="12700">
            <a:solidFill>
              <a:srgbClr val="333333"/>
            </a:solidFill>
            <a:prstDash val="solid"/>
          </a:ln>
        </p:spPr>
      </p:sp>
      <p:sp>
        <p:nvSpPr>
          <p:cNvPr id="3" name="Text 1"/>
          <p:cNvSpPr/>
          <p:nvPr/>
        </p:nvSpPr>
        <p:spPr>
          <a:xfrm>
            <a:off x="685800" y="1828800"/>
            <a:ext cx="7315200" cy="274320"/>
          </a:xfrm>
          <a:prstGeom prst="rect">
            <a:avLst/>
          </a:prstGeom>
          <a:noFill/>
          <a:ln/>
        </p:spPr>
        <p:txBody>
          <a:bodyPr wrap="square" lIns="0" tIns="0" rIns="0" bIns="0" rtlCol="0" anchor="ctr"/>
          <a:lstStyle/>
          <a:p>
            <a:pPr indent="0" marL="0">
              <a:buNone/>
            </a:pPr>
            <a:r>
              <a:rPr lang="en-US" sz="1150" b="1" spc="300" kern="0" dirty="0">
                <a:solidFill>
                  <a:srgbClr val="FFE600"/>
                </a:solidFill>
                <a:latin typeface="Arial" pitchFamily="34" charset="0"/>
                <a:ea typeface="Arial" pitchFamily="34" charset="-122"/>
                <a:cs typeface="Arial" pitchFamily="34" charset="-120"/>
              </a:rPr>
              <a:t>IN ONE SENTENCE</a:t>
            </a:r>
            <a:endParaRPr lang="en-US" sz="1150" dirty="0"/>
          </a:p>
        </p:txBody>
      </p:sp>
      <p:sp>
        <p:nvSpPr>
          <p:cNvPr id="4" name="Text 2"/>
          <p:cNvSpPr/>
          <p:nvPr/>
        </p:nvSpPr>
        <p:spPr>
          <a:xfrm>
            <a:off x="658368" y="2286000"/>
            <a:ext cx="8229600" cy="1188720"/>
          </a:xfrm>
          <a:prstGeom prst="rect">
            <a:avLst/>
          </a:prstGeom>
          <a:noFill/>
          <a:ln/>
        </p:spPr>
        <p:txBody>
          <a:bodyPr wrap="square" lIns="0" tIns="0" rIns="0" bIns="0" rtlCol="0" anchor="ctr"/>
          <a:lstStyle/>
          <a:p>
            <a:pPr indent="0" marL="0">
              <a:lnSpc>
                <a:spcPts val="3200"/>
              </a:lnSpc>
              <a:buNone/>
            </a:pPr>
            <a:r>
              <a:rPr lang="en-US" sz="2200" b="1" dirty="0">
                <a:solidFill>
                  <a:srgbClr val="FFFFFF"/>
                </a:solidFill>
                <a:latin typeface="Arial" pitchFamily="34" charset="0"/>
                <a:ea typeface="Arial" pitchFamily="34" charset="-122"/>
                <a:cs typeface="Arial" pitchFamily="34" charset="-120"/>
              </a:rPr>
              <a:t>Everyone is building brilliant diagnosticians for companies that already have a platform team — and most of them stop short of touching anything.</a:t>
            </a:r>
            <a:endParaRPr lang="en-US" sz="2200" dirty="0"/>
          </a:p>
        </p:txBody>
      </p:sp>
      <p:sp>
        <p:nvSpPr>
          <p:cNvPr id="5" name="Text 3"/>
          <p:cNvSpPr/>
          <p:nvPr/>
        </p:nvSpPr>
        <p:spPr>
          <a:xfrm>
            <a:off x="685800" y="3712464"/>
            <a:ext cx="8229600" cy="1097280"/>
          </a:xfrm>
          <a:prstGeom prst="rect">
            <a:avLst/>
          </a:prstGeom>
          <a:noFill/>
          <a:ln/>
        </p:spPr>
        <p:txBody>
          <a:bodyPr wrap="square" lIns="0" tIns="0" rIns="0" bIns="0" rtlCol="0" anchor="ctr"/>
          <a:lstStyle/>
          <a:p>
            <a:pPr indent="0" marL="0">
              <a:lnSpc>
                <a:spcPts val="2400"/>
              </a:lnSpc>
              <a:buNone/>
            </a:pPr>
            <a:r>
              <a:rPr lang="en-US" sz="1500" dirty="0">
                <a:solidFill>
                  <a:srgbClr val="C4C4CD"/>
                </a:solidFill>
                <a:latin typeface="Arial" pitchFamily="34" charset="0"/>
                <a:ea typeface="Arial" pitchFamily="34" charset="-122"/>
                <a:cs typeface="Arial" pitchFamily="34" charset="-120"/>
              </a:rPr>
              <a:t>Aurora Ops goes after the same 3am problem for everyone else. It needs nothing but the machine. It shows you every step of its reasoning. And on the one kind of problem where acting is safe, it acts — and then checks that it worked.</a:t>
            </a:r>
            <a:endParaRPr lang="en-US" sz="1500" dirty="0"/>
          </a:p>
        </p:txBody>
      </p:sp>
      <p:sp>
        <p:nvSpPr>
          <p:cNvPr id="6" name="Shape 4"/>
          <p:cNvSpPr/>
          <p:nvPr/>
        </p:nvSpPr>
        <p:spPr>
          <a:xfrm>
            <a:off x="685800" y="5138928"/>
            <a:ext cx="3108960" cy="32004"/>
          </a:xfrm>
          <a:prstGeom prst="rect">
            <a:avLst/>
          </a:prstGeom>
          <a:solidFill>
            <a:srgbClr val="FFE600"/>
          </a:solidFill>
          <a:ln w="12700">
            <a:solidFill>
              <a:srgbClr val="333333"/>
            </a:solidFill>
            <a:prstDash val="solid"/>
          </a:ln>
        </p:spPr>
      </p:sp>
      <p:sp>
        <p:nvSpPr>
          <p:cNvPr id="7" name="Text 5"/>
          <p:cNvSpPr/>
          <p:nvPr/>
        </p:nvSpPr>
        <p:spPr>
          <a:xfrm>
            <a:off x="685800" y="5340096"/>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Aurora Ops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Aurora Ops — Agentic IT Operations</dc:title>
  <dc:subject>PptxGenJS Presentation</dc:subject>
  <dc:creator>Gourav Kumar Bathwal</dc:creator>
  <cp:lastModifiedBy>Gourav Kumar Bathwal</cp:lastModifiedBy>
  <cp:revision>1</cp:revision>
  <dcterms:created xsi:type="dcterms:W3CDTF">2026-08-11T11:07:00Z</dcterms:created>
  <dcterms:modified xsi:type="dcterms:W3CDTF">2026-08-11T11:07:00Z</dcterms:modified>
</cp:coreProperties>
</file>